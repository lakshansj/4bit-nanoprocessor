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1" r:id="rId4"/>
    <p:sldId id="260" r:id="rId5"/>
    <p:sldId id="284" r:id="rId6"/>
    <p:sldId id="262" r:id="rId7"/>
    <p:sldId id="263" r:id="rId8"/>
    <p:sldId id="285" r:id="rId9"/>
    <p:sldId id="265" r:id="rId10"/>
    <p:sldId id="266" r:id="rId11"/>
    <p:sldId id="267" r:id="rId12"/>
    <p:sldId id="268" r:id="rId13"/>
    <p:sldId id="269" r:id="rId14"/>
    <p:sldId id="286" r:id="rId15"/>
    <p:sldId id="270" r:id="rId16"/>
    <p:sldId id="288" r:id="rId17"/>
    <p:sldId id="271" r:id="rId18"/>
    <p:sldId id="272" r:id="rId19"/>
    <p:sldId id="289" r:id="rId20"/>
    <p:sldId id="273" r:id="rId21"/>
    <p:sldId id="274" r:id="rId22"/>
    <p:sldId id="290" r:id="rId23"/>
    <p:sldId id="275" r:id="rId24"/>
    <p:sldId id="291" r:id="rId25"/>
    <p:sldId id="295" r:id="rId26"/>
    <p:sldId id="296" r:id="rId27"/>
    <p:sldId id="297" r:id="rId28"/>
    <p:sldId id="278" r:id="rId29"/>
    <p:sldId id="293" r:id="rId30"/>
    <p:sldId id="279" r:id="rId31"/>
    <p:sldId id="292" r:id="rId32"/>
    <p:sldId id="280" r:id="rId33"/>
    <p:sldId id="298" r:id="rId34"/>
    <p:sldId id="282" r:id="rId35"/>
    <p:sldId id="283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3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82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9A14-6313-C637-C3C2-C9EE2332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FD887-B09A-5BD0-D9C5-B379324C2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F1F7A-FE5A-D02B-8281-0994191A1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5CE2E-CF84-4C67-4DB7-57CFF62EB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3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484B-B157-9673-8722-9FC747F2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BC84-4963-3A62-8924-CBA9E9C72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89C9B-1DB4-AD02-43EE-651C21D40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AC31-5A90-9753-F440-5AB267989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02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FD23-4391-C27B-AC77-9328ED90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CBABB-EF37-8904-BE10-EBC805C6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93A65-85E5-5699-97AA-A6C5B5921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935A6-CF3A-61D9-0729-94912F78A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14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8999-4C80-B6E5-6AF5-F99BA839C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44BED-B40B-67DB-D65B-50981CAF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64FE2-B7CB-45FF-0038-6B703A5EA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812CD-83A6-CCEC-0D73-17274E41A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58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DCF3-A454-E875-E311-63B8448D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C6805-8607-44E1-7E98-5A0F3DA4D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E2869-0002-1E92-77A5-86C4E3FE0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2BF1F-9EE9-17F8-306F-81DC0F1FA1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583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46DA-730C-12CC-6B60-30C500AA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14BEC-3977-FED6-AF9C-FB09B2CC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00A0D-3E91-CA3B-2F73-E86637A8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CCE6E-6ACC-D1E6-0682-823164272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441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9B41-E6E3-E019-26AF-D5585E10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27F7E-26EB-D0AC-CFF8-570642C4F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79DD7-BBA6-AB35-7D3A-B1E2C67FA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0FEE4-B19E-D52F-470C-09019502A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362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D3EE-D59C-8B8C-7331-73DF2E91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7AD7B-08F9-86C2-3D2F-2CF9B9E08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36F69-4BA8-E254-BF69-352E8A3C5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79234-5573-4FA5-FADF-E1D86B6B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535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A02B-778A-43F4-9A41-A8B52610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7E1D3-BE2E-8B58-B6E5-8CEC8F49C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A2137-C015-FC05-6BB8-D4C5DE5CA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6CF84-1C20-D890-7720-63724DF96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330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66172-13C3-052E-EBC4-4FF5773A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E1D73-B547-6C68-E0B5-582903C1C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2D153-B614-BAD4-F87C-DD854E2C7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AB0DB-62B7-A682-4295-22A826F6A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096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CS1050 — Computer Organization and Digital Design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Nanoprocessor Design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23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54370"/>
              </p:ext>
            </p:extLst>
          </p:nvPr>
        </p:nvGraphicFramePr>
        <p:xfrm>
          <a:off x="2560320" y="1965960"/>
          <a:ext cx="4023360" cy="1920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Jayathilake P. I. 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240288D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Jayawardana Y. G. L. 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240294R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Jayawardhana J. A. R. 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240297E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Kalpashaka N. G. L. 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240312A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Vivado · Tested on Basys 3 FPGA · Department of Computer Science and Engineering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4-bit nanoprocessor capable of executing arithmetic, logical, and control-flow instructions.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two processor versions: Optimized (resource-efficient) and Extended (feature-rich).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instruction set from 4 instructions (12-bit, 2-bit opcode) to 11 instructions (14-bit, 4-bit opcode).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components via VHDL simulation and deploy on the Basys 3 FPGA development board.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17720" y="822960"/>
            <a:ext cx="0" cy="38404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20700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ISA (Optimized)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64608" y="146304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instructions: MOVI, ADD, NEG, JZR — 2-bit opcode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19656"/>
            <a:ext cx="3931920" cy="6766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188366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14-bit ISA (Extended)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2139696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instructions incl. SUB, AND, OR, XOR, NOT, CMP, CMPU, MOVI, ADD, NEG, JZR — 4-bit opcode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49652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26136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869692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tested on Basys 3 (Artix-7 XC7A35T)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26308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329031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354634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result displayed via seven-segment display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02964"/>
            <a:ext cx="3931920" cy="621792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96697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4223004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ROM, PC, Decoder, Register Bank, ALU, Flags — all as separate VHDL modules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2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950AC0C-98BE-8C2E-6701-6DD59959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61" y="829180"/>
            <a:ext cx="3561878" cy="4314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Opcode Encoding — Original vs. Extended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 — 2-bit Opcode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30884"/>
              </p:ext>
            </p:extLst>
          </p:nvPr>
        </p:nvGraphicFramePr>
        <p:xfrm>
          <a:off x="411480" y="1188720"/>
          <a:ext cx="3931920" cy="2011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— 4-bit Opcode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983829"/>
              </p:ext>
            </p:extLst>
          </p:nvPr>
        </p:nvGraphicFramePr>
        <p:xfrm>
          <a:off x="4846320" y="1188720"/>
          <a:ext cx="3840480" cy="362102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MOVI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BD8A45-5E51-4222-1EFE-CF3497A2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85C630-3419-221F-14C0-1DDE021609C3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Opcode Encoding — Original vs. Extended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9DBC4CE-01C2-1F9E-A486-14BA0C939528}"/>
              </a:ext>
            </a:extLst>
          </p:cNvPr>
          <p:cNvSpPr/>
          <p:nvPr/>
        </p:nvSpPr>
        <p:spPr>
          <a:xfrm>
            <a:off x="411480" y="8564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Architectural Differences</a:t>
            </a:r>
            <a:endParaRPr lang="en-US" sz="1400" dirty="0"/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F1E4A5B8-470E-8324-E409-24C898212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226126"/>
              </p:ext>
            </p:extLst>
          </p:nvPr>
        </p:nvGraphicFramePr>
        <p:xfrm>
          <a:off x="411480" y="1277112"/>
          <a:ext cx="8321040" cy="2011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No. of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Operations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NEG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ADD, SUB, AND, OR, XOR, NOT, CMP, CMPU, NEG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 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92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Optimized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6712"/>
            <a:ext cx="4114800" cy="19202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14144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Nanoprocessor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Clk_100MHz : in 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: in 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    : out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   : out std_logic;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   : out std_logic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Nanoprocessor;</a:t>
            </a:r>
            <a:endParaRPr lang="en-US" sz="9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DBE8B6-C9A2-08E4-8439-A654FEE25D2D}"/>
              </a:ext>
            </a:extLst>
          </p:cNvPr>
          <p:cNvGrpSpPr/>
          <p:nvPr/>
        </p:nvGrpSpPr>
        <p:grpSpPr>
          <a:xfrm>
            <a:off x="411480" y="905256"/>
            <a:ext cx="8275320" cy="347472"/>
            <a:chOff x="411480" y="1188720"/>
            <a:chExt cx="8275320" cy="347472"/>
          </a:xfrm>
        </p:grpSpPr>
        <p:sp>
          <p:nvSpPr>
            <p:cNvPr id="6" name="Text 4"/>
            <p:cNvSpPr/>
            <p:nvPr/>
          </p:nvSpPr>
          <p:spPr>
            <a:xfrm>
              <a:off x="411480" y="1188720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Entity</a:t>
              </a: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400" b="1" dirty="0">
                  <a:solidFill>
                    <a:schemeClr val="accent5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</a:t>
              </a:r>
              <a:endParaRPr lang="en-US" sz="14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75488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Sub-Modules Instantiated</a:t>
              </a:r>
              <a:endParaRPr lang="en-US" sz="14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4754880" y="1286712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2897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program_rom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1545792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8×12-bit ROM; addressed by 3-bit PC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76220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7652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instruction_decoder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2021280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12-bit instruction; issues control signals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37688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224073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ADD_SUB_4bit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496768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ALU with ADD/NEG; produces zero &amp; overflow flags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713176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64608" y="27162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register_bank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64608" y="2972256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registers (R0–R7) with sync write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188664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319171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3447744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zero/overflow flags on clock edge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64152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366720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slow_clock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3923232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100 MHz → ~0.5 Hz for visible stepping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413964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41426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mux2_4bit (×2)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4398720"/>
            <a:ext cx="371246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Writeback selector (ALU vs immediate); PC mux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277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 Summary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3641088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→ ROM → 12-bit instruction word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issues reg_write_en, alu_sub, wb_sel_imm, pc_load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output or immediate data written back to register bank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→ decoder for JZR conditional branch</a:t>
            </a:r>
            <a:endParaRPr lang="en-US" sz="105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A9B996C9-FC85-FDB3-68C2-70044B87CFD5}"/>
              </a:ext>
            </a:extLst>
          </p:cNvPr>
          <p:cNvSpPr/>
          <p:nvPr/>
        </p:nvSpPr>
        <p:spPr>
          <a:xfrm>
            <a:off x="4754880" y="4619700"/>
            <a:ext cx="3931920" cy="448056"/>
          </a:xfrm>
          <a:prstGeom prst="rect">
            <a:avLst/>
          </a:prstGeom>
          <a:solidFill>
            <a:srgbClr val="EEF3FA"/>
          </a:solidFill>
          <a:ln w="9525">
            <a:solidFill>
              <a:srgbClr val="C5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14C1AB7D-FAA0-08F5-27D5-EFBE103BEA01}"/>
              </a:ext>
            </a:extLst>
          </p:cNvPr>
          <p:cNvSpPr/>
          <p:nvPr/>
        </p:nvSpPr>
        <p:spPr>
          <a:xfrm>
            <a:off x="4864608" y="46227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mux8_4bit</a:t>
            </a:r>
            <a:endParaRPr lang="en-US" sz="105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FFF09B9D-4078-9FC5-C6CB-B4584D4F7B33}"/>
              </a:ext>
            </a:extLst>
          </p:cNvPr>
          <p:cNvSpPr/>
          <p:nvPr/>
        </p:nvSpPr>
        <p:spPr>
          <a:xfrm>
            <a:off x="4864608" y="4878780"/>
            <a:ext cx="3712464" cy="179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one of eight 4-bit inputs based on 3-bit select line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Extended Version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12480"/>
              </p:ext>
            </p:extLst>
          </p:nvPr>
        </p:nvGraphicFramePr>
        <p:xfrm>
          <a:off x="411480" y="1335024"/>
          <a:ext cx="4206240" cy="3154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top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(new)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Used inside top_alu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 (binOp)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AND/OR/XOR/NOT support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 logic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mux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6AF722C-1C2A-B203-AF5F-ACB92C2CD2FE}"/>
              </a:ext>
            </a:extLst>
          </p:cNvPr>
          <p:cNvGrpSpPr/>
          <p:nvPr/>
        </p:nvGrpSpPr>
        <p:grpSpPr>
          <a:xfrm>
            <a:off x="411480" y="885328"/>
            <a:ext cx="8275320" cy="347472"/>
            <a:chOff x="411480" y="1188720"/>
            <a:chExt cx="8275320" cy="347472"/>
          </a:xfrm>
        </p:grpSpPr>
        <p:sp>
          <p:nvSpPr>
            <p:cNvPr id="6" name="Text 4"/>
            <p:cNvSpPr/>
            <p:nvPr/>
          </p:nvSpPr>
          <p:spPr>
            <a:xfrm>
              <a:off x="411480" y="1188720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Differences from Optimized</a:t>
              </a:r>
              <a:endParaRPr lang="en-US" sz="1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754880" y="1188720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Extended Entity Interface</a:t>
              </a:r>
              <a:endParaRPr lang="en-US" sz="1400" dirty="0"/>
            </a:p>
          </p:txBody>
        </p:sp>
      </p:grpSp>
      <p:sp>
        <p:nvSpPr>
          <p:cNvPr id="7" name="Shape 6"/>
          <p:cNvSpPr/>
          <p:nvPr/>
        </p:nvSpPr>
        <p:spPr>
          <a:xfrm>
            <a:off x="4754880" y="1335024"/>
            <a:ext cx="3931920" cy="2251456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2040" y="1362456"/>
            <a:ext cx="3703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Nanoprocessor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Clk_100MHz : in 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fr-FR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mode_sel</a:t>
            </a:r>
            <a:r>
              <a:rPr lang="fr-FR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fr-FR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;</a:t>
            </a: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sw_inst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(13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btn_step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: in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>
              <a:solidFill>
                <a:srgbClr val="212121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greater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equal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lower      : out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Nanoprocessor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6A4D6-C2B8-A304-4BF4-911714AA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A53F5B-C116-D77A-1251-F971893AB398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Module — Extended Version</a:t>
            </a:r>
            <a:endParaRPr lang="en-US" sz="26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38C3E9C-2B9F-A939-9D15-8A6BBDD78E02}"/>
              </a:ext>
            </a:extLst>
          </p:cNvPr>
          <p:cNvGrpSpPr/>
          <p:nvPr/>
        </p:nvGrpSpPr>
        <p:grpSpPr>
          <a:xfrm>
            <a:off x="409433" y="1017569"/>
            <a:ext cx="6827914" cy="2375624"/>
            <a:chOff x="409433" y="1316273"/>
            <a:chExt cx="6827914" cy="2375624"/>
          </a:xfrm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9BE8544D-F694-5982-C85A-1416C66D4F14}"/>
                </a:ext>
              </a:extLst>
            </p:cNvPr>
            <p:cNvSpPr/>
            <p:nvPr/>
          </p:nvSpPr>
          <p:spPr>
            <a:xfrm>
              <a:off x="411480" y="2392513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12">
              <a:extLst>
                <a:ext uri="{FF2B5EF4-FFF2-40B4-BE49-F238E27FC236}">
                  <a16:creationId xmlns:a16="http://schemas.microsoft.com/office/drawing/2014/main" id="{3031B469-FBF8-1B15-7231-38AC65154833}"/>
                </a:ext>
              </a:extLst>
            </p:cNvPr>
            <p:cNvSpPr/>
            <p:nvPr/>
          </p:nvSpPr>
          <p:spPr>
            <a:xfrm>
              <a:off x="411480" y="3013508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A064A7E5-F6C9-82AC-B38D-6D11869B182E}"/>
                </a:ext>
              </a:extLst>
            </p:cNvPr>
            <p:cNvSpPr/>
            <p:nvPr/>
          </p:nvSpPr>
          <p:spPr>
            <a:xfrm>
              <a:off x="411480" y="1771518"/>
              <a:ext cx="6030263" cy="560385"/>
            </a:xfrm>
            <a:prstGeom prst="rect">
              <a:avLst/>
            </a:prstGeom>
            <a:solidFill>
              <a:srgbClr val="EEF3FA"/>
            </a:solidFill>
            <a:ln w="9525">
              <a:solidFill>
                <a:srgbClr val="C5D8E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C5D3A6F1-908A-2165-F63D-DD739B7808EB}"/>
                </a:ext>
              </a:extLst>
            </p:cNvPr>
            <p:cNvSpPr/>
            <p:nvPr/>
          </p:nvSpPr>
          <p:spPr>
            <a:xfrm>
              <a:off x="409433" y="1316273"/>
              <a:ext cx="3931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Components Added in Extended Version</a:t>
              </a:r>
              <a:endParaRPr lang="en-US" sz="1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58809C85-E93B-0174-C56E-254722D44660}"/>
                </a:ext>
              </a:extLst>
            </p:cNvPr>
            <p:cNvSpPr/>
            <p:nvPr/>
          </p:nvSpPr>
          <p:spPr>
            <a:xfrm>
              <a:off x="519161" y="1777472"/>
              <a:ext cx="6718186" cy="2771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F4E7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top_alu</a:t>
              </a:r>
              <a:endParaRPr lang="en-US" sz="1100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C9C4454D-EAE7-023D-0423-E5A8FAEBD99D}"/>
                </a:ext>
              </a:extLst>
            </p:cNvPr>
            <p:cNvSpPr/>
            <p:nvPr/>
          </p:nvSpPr>
          <p:spPr>
            <a:xfrm>
              <a:off x="519161" y="2054589"/>
              <a:ext cx="6718186" cy="4255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Wrapper module combining ADD_SUB_4bit, Comparator, and Logic Unit. Selects output via 3-bit alu_op control signal.</a:t>
              </a:r>
              <a:endParaRPr lang="en-US" sz="95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ABF6774-3E52-A3ED-1B62-E7E73836B235}"/>
                </a:ext>
              </a:extLst>
            </p:cNvPr>
            <p:cNvGrpSpPr/>
            <p:nvPr/>
          </p:nvGrpSpPr>
          <p:grpSpPr>
            <a:xfrm>
              <a:off x="519161" y="2434263"/>
              <a:ext cx="4823938" cy="649224"/>
              <a:chOff x="519161" y="2682728"/>
              <a:chExt cx="2478024" cy="649224"/>
            </a:xfrm>
          </p:grpSpPr>
          <p:sp>
            <p:nvSpPr>
              <p:cNvPr id="16" name="Text 13">
                <a:extLst>
                  <a:ext uri="{FF2B5EF4-FFF2-40B4-BE49-F238E27FC236}">
                    <a16:creationId xmlns:a16="http://schemas.microsoft.com/office/drawing/2014/main" id="{7997E427-E65B-6EC8-A7FE-07EEEA422A87}"/>
                  </a:ext>
                </a:extLst>
              </p:cNvPr>
              <p:cNvSpPr/>
              <p:nvPr/>
            </p:nvSpPr>
            <p:spPr>
              <a:xfrm>
                <a:off x="519161" y="2682728"/>
                <a:ext cx="247802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F4E7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Comparator</a:t>
                </a:r>
                <a:endParaRPr lang="en-US" sz="1100" dirty="0"/>
              </a:p>
            </p:txBody>
          </p:sp>
          <p:sp>
            <p:nvSpPr>
              <p:cNvPr id="17" name="Text 14">
                <a:extLst>
                  <a:ext uri="{FF2B5EF4-FFF2-40B4-BE49-F238E27FC236}">
                    <a16:creationId xmlns:a16="http://schemas.microsoft.com/office/drawing/2014/main" id="{BCC45CD3-4FFC-47E0-688A-EFB91DD52F85}"/>
                  </a:ext>
                </a:extLst>
              </p:cNvPr>
              <p:cNvSpPr/>
              <p:nvPr/>
            </p:nvSpPr>
            <p:spPr>
              <a:xfrm>
                <a:off x="519161" y="2938760"/>
                <a:ext cx="2478024" cy="3931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Performs signed and unsigned 4-bit comparison; generates GT, EQ, and LT flag signals.</a:t>
                </a:r>
                <a:endParaRPr lang="en-US" sz="950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36E1B2A-2B97-1E5A-D3C3-301558D2FFF1}"/>
                </a:ext>
              </a:extLst>
            </p:cNvPr>
            <p:cNvGrpSpPr/>
            <p:nvPr/>
          </p:nvGrpSpPr>
          <p:grpSpPr>
            <a:xfrm>
              <a:off x="519160" y="3042673"/>
              <a:ext cx="4052839" cy="649224"/>
              <a:chOff x="519161" y="3543764"/>
              <a:chExt cx="2478024" cy="649224"/>
            </a:xfrm>
          </p:grpSpPr>
          <p:sp>
            <p:nvSpPr>
              <p:cNvPr id="19" name="Text 16">
                <a:extLst>
                  <a:ext uri="{FF2B5EF4-FFF2-40B4-BE49-F238E27FC236}">
                    <a16:creationId xmlns:a16="http://schemas.microsoft.com/office/drawing/2014/main" id="{559CAD40-E1E4-0E61-ADA8-C79E0BABAB21}"/>
                  </a:ext>
                </a:extLst>
              </p:cNvPr>
              <p:cNvSpPr/>
              <p:nvPr/>
            </p:nvSpPr>
            <p:spPr>
              <a:xfrm>
                <a:off x="519161" y="3543764"/>
                <a:ext cx="247802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F4E7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Logic Unit (binOp)</a:t>
                </a:r>
                <a:endParaRPr lang="en-US" sz="1100" dirty="0"/>
              </a:p>
            </p:txBody>
          </p:sp>
          <p:sp>
            <p:nvSpPr>
              <p:cNvPr id="20" name="Text 17">
                <a:extLst>
                  <a:ext uri="{FF2B5EF4-FFF2-40B4-BE49-F238E27FC236}">
                    <a16:creationId xmlns:a16="http://schemas.microsoft.com/office/drawing/2014/main" id="{0CC82AD0-EC1F-1D87-5B07-B80746B21589}"/>
                  </a:ext>
                </a:extLst>
              </p:cNvPr>
              <p:cNvSpPr/>
              <p:nvPr/>
            </p:nvSpPr>
            <p:spPr>
              <a:xfrm>
                <a:off x="519161" y="3799796"/>
                <a:ext cx="2478024" cy="3931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Implements bitwise AND, OR, XOR, and NOT operations on 4-bit operands.</a:t>
                </a:r>
                <a:endParaRPr lang="en-US" sz="9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114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ROM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56906"/>
              </p:ext>
            </p:extLst>
          </p:nvPr>
        </p:nvGraphicFramePr>
        <p:xfrm>
          <a:off x="411480" y="1170432"/>
          <a:ext cx="4114800" cy="234086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ROM (read-only memory)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8 locations (8 instructions)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Width (Optimized)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Width (Extended)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Address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(from Program Counter)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Data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 / 14-bit instruction 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Access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Asynchronous (combinational)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Implementation Approach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70432"/>
            <a:ext cx="3931920" cy="2340864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54880" y="1207008"/>
            <a:ext cx="3840480" cy="2206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 STD_LOGIC_VECTOR (2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data : out STD_LOGIC_VECTOR (11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Behavioral of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program_rom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rom_array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 array (0 to 7) of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(11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endParaRPr lang="en-US" sz="88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constant ROM : </a:t>
            </a:r>
            <a:r>
              <a:rPr lang="en-US" sz="88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rom_array</a:t>
            </a: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:= (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0 =&gt; "101110000000",   -- MOVI R7, 0   (R7 = 0)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1 =&gt; "100010000001",   -- MOVI R1, 1   (R1 = 1)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...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others =&gt; (others =&gt; '0’) </a:t>
            </a:r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411480" y="37490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Processor Datapath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40690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ROM stores the hardcoded instruction sequence loaded at synthesis time.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3-bit PC address selects which of the 8 instruction words is presented to the instruction decoder on each clock cycle.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version widens the data bus to 14 bits to accommodate the 4-bit opcode and larger instruction fields.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Counter &amp; Address Control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register tracking the next instruction address (0–7).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slow-clock rising edge: if pc_load='1' and zero flag set, loads jump target d; otherwise increments by 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reset (btnC) returns PC to '000'.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slow clock (~0.5 Hz) so execution is observable on hardware.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57175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Adder (PC Increment)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882646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 3-bit adder computes PC + 1 for the next sequential instruction.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chain of full adders, consistent with the structural VHDL approach used throughout.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fed to the PC register and to the MUX for jump target selection.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Multiplexer &amp; Jump Logic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170432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MUX selects between PC+1 (sequential) and jump address d (branch taken).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signal: pc_load AND zero_flag — only JZR with R=0 triggers a branch.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address d is encoded directly in the instruction word (bits [2:0] for optimized).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5466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Control Signal Summary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69944"/>
              </p:ext>
            </p:extLst>
          </p:nvPr>
        </p:nvGraphicFramePr>
        <p:xfrm>
          <a:off x="4754880" y="2857500"/>
          <a:ext cx="3931920" cy="18288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pc_load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Zero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PC 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Normal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 + 1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JZR, R ≠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 + 1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JZR, R =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(jump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Clock — Frequency Division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Basys 3 oscillator generates a 100 MHz system clock. Direct use at this frequency would make register transitions invisible to the human eye.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slow_clock module uses a counter-based frequency divider to reduce the processor's operating clock to approximately 0.5 Hz.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enable input allows the top module to gate the slow clock output.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26-bit counter counts to 50,000,000 (half-period) and toggles the output, yielding ~1 Hz → ~0.5 Hz toggle rate.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3383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703320"/>
            <a:ext cx="4114800" cy="12801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slow_clock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clk_in : in  STD_LOGIC;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 : in  STD_LOGIC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slow_clock;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Division Parameters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57564"/>
              </p:ext>
            </p:extLst>
          </p:nvPr>
        </p:nvGraphicFramePr>
        <p:xfrm>
          <a:off x="4846320" y="1170432"/>
          <a:ext cx="3840480" cy="23317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Input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(Basys 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Counter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26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Half-period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50,000,000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~1 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Effective processor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~0.5 Hz (one instruction per 2 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Human-observable FPGA execution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846320" y="3657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1300" dirty="0"/>
          </a:p>
        </p:txBody>
      </p:sp>
      <p:sp>
        <p:nvSpPr>
          <p:cNvPr id="11" name="Text 10"/>
          <p:cNvSpPr/>
          <p:nvPr/>
        </p:nvSpPr>
        <p:spPr>
          <a:xfrm>
            <a:off x="4846320" y="397764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Clk_100MHz → slow_clock → divided clock signal → PC register clock input.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divided clock governs all synchronous state transitions in the processor.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Optimized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063240" y="35554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311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Inputs &amp; Outputs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740068"/>
              </p:ext>
            </p:extLst>
          </p:nvPr>
        </p:nvGraphicFramePr>
        <p:xfrm>
          <a:off x="411480" y="1269492"/>
          <a:ext cx="4572000" cy="345643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Width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Full instruction word from 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zero_flag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 from flags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reg_write_en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write to register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reg_write_sel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Destination register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read_sel_a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Source register Ra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read_sel_b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Source register Rb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alu_sub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 operation: 0=ADD, 1=NEG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wb_sel_imm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Writeback: 0=ALU result, 1=immediate 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pc_load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PC jump (JZR)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3520" y="11704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Logic (2-bit Opcode)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50876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= instruction[11:10] selects instruction type.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→ ADD: reg_write_en=1, alu_sub=0, wb_sel_imm=0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→ NEG: reg_write_en=1, alu_sub=1, wb_sel_imm=0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MOVI: reg_write_en=1, wb_sel_imm=1 (immediate d = inst[3:0])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→ JZR: pc_load=1 (branch if zero_flag=1), reg_write_en=0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fields: Ra/R = inst[9:7], Rb = inst[6:4]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03520" y="362559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39456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Vivado simulation with all four instruction opcodes as stimuli; timing diagram confirmed correct control signal assertion on each instruction word.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Extended 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Optimized Decoder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77150"/>
              </p:ext>
            </p:extLst>
          </p:nvPr>
        </p:nvGraphicFramePr>
        <p:xfrm>
          <a:off x="411480" y="1170432"/>
          <a:ext cx="8321040" cy="307238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Instruction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12-bit input 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14-bit input bus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Opcode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inst[11:10] — 2 bits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inst[13:10] — 4 bits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Sub-opcode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applicable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inst[5:3] — 3 bits for alu_op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alu_op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1-bit alu_sub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alu_op for top_alu selection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New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SUB, CMPU, CMP, OR, AND, XOR, NOT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 enable (flag_en)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Added to control flag register write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JZR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∈ [0,7]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∈ [−8,7] (signed, 4 bits)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C92D8-8DF9-4371-0E34-95ECB822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2AEA45-7ABD-A40E-29F8-D9F2841F743B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Decoder — Extended Version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5EF1D4-A9A6-895D-62CE-F1AB8F49B557}"/>
              </a:ext>
            </a:extLst>
          </p:cNvPr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B2E2784-C7D0-590A-6C8D-55AA5EA3F5E5}"/>
              </a:ext>
            </a:extLst>
          </p:cNvPr>
          <p:cNvSpPr/>
          <p:nvPr/>
        </p:nvSpPr>
        <p:spPr>
          <a:xfrm>
            <a:off x="411480" y="1025957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Decoding Logic — alu_op Mapping</a:t>
            </a:r>
            <a:endParaRPr lang="en-US" sz="1300" dirty="0"/>
          </a:p>
        </p:txBody>
      </p:sp>
      <p:graphicFrame>
        <p:nvGraphicFramePr>
          <p:cNvPr id="29" name="Table 1">
            <a:extLst>
              <a:ext uri="{FF2B5EF4-FFF2-40B4-BE49-F238E27FC236}">
                <a16:creationId xmlns:a16="http://schemas.microsoft.com/office/drawing/2014/main" id="{17152303-D8AE-5E6D-29E7-D43DCEBEC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8765"/>
              </p:ext>
            </p:extLst>
          </p:nvPr>
        </p:nvGraphicFramePr>
        <p:xfrm>
          <a:off x="411480" y="1373429"/>
          <a:ext cx="8321040" cy="271576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top_alu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ADD_SUB_4bit, alu_sel=0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ADD_SUB_4bit, alu_sel=1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 (unsigned)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 (signed)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unit, binop_sel=11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056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Bank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487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44054"/>
            <a:ext cx="4114800" cy="1529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general-purpose registers, R0 through R7.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is hardwired to '0000' (read as zero; writes ignored).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write: data written on rising clock edge when write_en='1'.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selects the destination register using the 3-bit write_sel signal.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read ports provide operands Ra and Rb to the ALU.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6334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953512"/>
            <a:ext cx="4114800" cy="187909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3840480" cy="1744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register_bank is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clk, reset, enable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write_en 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write_sel 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data_in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read_sel_a: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read_sel_b: in  std_logic_vector(2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data_a    : out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data_b    : out std_logic_vector(3 downto 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register_bank;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714870"/>
            <a:ext cx="3840480" cy="264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039141"/>
            <a:ext cx="3840480" cy="1185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instances of 4-bit D flip-flop registers, each with synchronous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converts write_sel to one-hot register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8-to-1 multiplexers (4-bit) select Ra and Rb read outputs.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6827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Map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628316"/>
              </p:ext>
            </p:extLst>
          </p:nvPr>
        </p:nvGraphicFramePr>
        <p:xfrm>
          <a:off x="4846320" y="2488311"/>
          <a:ext cx="3840480" cy="168249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Hardwired zero (read-only)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R1–R6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General-purpose arithmetic /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Primary result output (driven to LEDs)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5AF1FE-E6ED-310A-7363-9FD05383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F28B69-E7DB-433E-B2CF-84BB0E07A6F1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Bank</a:t>
            </a:r>
            <a:endParaRPr lang="en-US" sz="26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012497D-B734-4B3F-E26B-B4D231F0DBC0}"/>
              </a:ext>
            </a:extLst>
          </p:cNvPr>
          <p:cNvSpPr/>
          <p:nvPr/>
        </p:nvSpPr>
        <p:spPr>
          <a:xfrm>
            <a:off x="411480" y="685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56E91C-86B7-7FAB-6EB6-EC8C0E5D3349}"/>
              </a:ext>
            </a:extLst>
          </p:cNvPr>
          <p:cNvSpPr/>
          <p:nvPr/>
        </p:nvSpPr>
        <p:spPr>
          <a:xfrm>
            <a:off x="411480" y="1005840"/>
            <a:ext cx="358731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diagram confirmed correct write-on-enable behavior.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5C69649-BDC9-A224-5CCB-4ED114642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44979"/>
            <a:ext cx="3525236" cy="2532888"/>
          </a:xfrm>
          <a:prstGeom prst="rect">
            <a:avLst/>
          </a:prstGeom>
        </p:spPr>
      </p:pic>
      <p:sp>
        <p:nvSpPr>
          <p:cNvPr id="21" name="Shape 7">
            <a:extLst>
              <a:ext uri="{FF2B5EF4-FFF2-40B4-BE49-F238E27FC236}">
                <a16:creationId xmlns:a16="http://schemas.microsoft.com/office/drawing/2014/main" id="{F507E27B-83CA-70F6-5655-E7EAA4E680FB}"/>
              </a:ext>
            </a:extLst>
          </p:cNvPr>
          <p:cNvSpPr/>
          <p:nvPr/>
        </p:nvSpPr>
        <p:spPr>
          <a:xfrm>
            <a:off x="4054067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3714AC57-4BB5-B4E5-D91B-4423DC6212ED}"/>
              </a:ext>
            </a:extLst>
          </p:cNvPr>
          <p:cNvSpPr/>
          <p:nvPr/>
        </p:nvSpPr>
        <p:spPr>
          <a:xfrm>
            <a:off x="4369311" y="685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629014FA-258F-0A56-82E3-56A3612BA092}"/>
              </a:ext>
            </a:extLst>
          </p:cNvPr>
          <p:cNvSpPr/>
          <p:nvPr/>
        </p:nvSpPr>
        <p:spPr>
          <a:xfrm>
            <a:off x="4369311" y="1010753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4-bit registers</a:t>
            </a: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40A1764-B91F-5C90-340D-360391D6B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289" y="1303020"/>
            <a:ext cx="3082688" cy="36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2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Logic Unit —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Comparison: Optimized vs. Extended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669811"/>
              </p:ext>
            </p:extLst>
          </p:nvPr>
        </p:nvGraphicFramePr>
        <p:xfrm>
          <a:off x="411480" y="1170432"/>
          <a:ext cx="8321040" cy="32918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 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Top-level 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(direct)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(new wrapper module)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 / 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(sub-module inside top_alu)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Logic Unit: AND, OR, XOR, NOT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present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Comparator: signed &amp; unsigned CMP, CMPU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Output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Single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3-bit alu_op mux selects among sub-units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ADD_SUB_4bit directly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top_alu output mux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Flags produced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zero, overflow, GT, EQ, 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SUB Unit — ADD_SUB_4bit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adder/subtractor built on a 4-bit Ripple Carry Adder (RCA_4bit).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alu_sel=0: standard addition (Y = A + B).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alu_sel=1: subtraction via 2's complement (Y = A + ~B + 1).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detected by XOR of carry-in and carry-out at MSB.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asserted when all result bits are '0' (NOR of Y[3:0]).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82549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145536"/>
            <a:ext cx="4114800" cy="1664208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ADD_SUB_4bit is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   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      : in 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alu_sel : in 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     : out STD_LOGIC_VECTOR(3 downto 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carry   : out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overflow: out STD_LOGIC;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zero    : out STD_LOGIC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ADD_SUB_4bit;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Generation Logic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58034"/>
              </p:ext>
            </p:extLst>
          </p:nvPr>
        </p:nvGraphicFramePr>
        <p:xfrm>
          <a:off x="4846320" y="1170432"/>
          <a:ext cx="3840480" cy="1280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NOR(Y[3:0])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= 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C_in XOR C_out (MSB)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Signed overflow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carry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C_out of bit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Unsigned overflow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84632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2's Complement Subtraction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090672"/>
            <a:ext cx="3840480" cy="882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alu_sel=1, B is bitwise inverted and Cin=1 is injected at bit 0 of the RCA.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implements A − B = A + (~B + 1) via the standard 2's complement technique.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9730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42931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confirmed overflow detection, zero flag, and correct subtraction across boundary cases (e.g., 0000 − 0001, signed overflow at 0111 + 0001).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CD481-3C4B-6870-90CC-7FA8942A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D99635-603E-0F65-0CA3-7AA616801418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SUB Unit — ADD_SUB_4bit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02795BD-64CC-827A-D89A-B409735470FD}"/>
              </a:ext>
            </a:extLst>
          </p:cNvPr>
          <p:cNvSpPr/>
          <p:nvPr/>
        </p:nvSpPr>
        <p:spPr>
          <a:xfrm>
            <a:off x="4238995" y="76154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150BF79-BA82-0EC2-D934-9C065E7F125D}"/>
              </a:ext>
            </a:extLst>
          </p:cNvPr>
          <p:cNvSpPr/>
          <p:nvPr/>
        </p:nvSpPr>
        <p:spPr>
          <a:xfrm>
            <a:off x="411480" y="82452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C66F225-A597-B0D0-EB0E-4C7E094C2821}"/>
              </a:ext>
            </a:extLst>
          </p:cNvPr>
          <p:cNvSpPr/>
          <p:nvPr/>
        </p:nvSpPr>
        <p:spPr>
          <a:xfrm>
            <a:off x="411480" y="1144569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confirmed overflow detection, zero flag, and correct subtraction across boundary cases (e.g., 0000 − 0001, signed overflow at 0111 + 0001).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E63E51-9F78-473B-D1A8-6CE61163C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12406"/>
            <a:ext cx="3628254" cy="21217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60A7E2-3976-6383-D5BB-D49E9AABC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254" y="1692322"/>
            <a:ext cx="4796565" cy="1811382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0F2E06F9-5EE3-4CFC-3710-44F13767E7DE}"/>
              </a:ext>
            </a:extLst>
          </p:cNvPr>
          <p:cNvSpPr/>
          <p:nvPr/>
        </p:nvSpPr>
        <p:spPr>
          <a:xfrm>
            <a:off x="4517409" y="824529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</a:t>
            </a:r>
            <a:endParaRPr lang="en-US" sz="13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0FC39A37-D81D-784D-985C-BAF72F0A2B09}"/>
              </a:ext>
            </a:extLst>
          </p:cNvPr>
          <p:cNvSpPr/>
          <p:nvPr/>
        </p:nvSpPr>
        <p:spPr>
          <a:xfrm>
            <a:off x="4517409" y="1144569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U1 -&gt; 4-bit Ripple Carry Adder unit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0465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Unit (Extended Version)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9357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74064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supports both unsigned (CMPU) and signed (CMP) 4-bit comparison.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three one-hot flags: GT (greater than), EQ (equal), LT (less than).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is flag-only — no result is written to the register bank.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comparison: direct binary comparison of 4-bit values (range 0–15).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comparison: interprets operands as 2's complement integers (range −8 to +7).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162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636264"/>
            <a:ext cx="4114800" cy="1202436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63696"/>
            <a:ext cx="3840480" cy="1118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comparator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: in 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 : in  STD_LOGIC;  -- 0=unsigned, 1=signed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GT, EQ, LT : out STD_LOGIC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comparator;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35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Truth Table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6875"/>
              </p:ext>
            </p:extLst>
          </p:nvPr>
        </p:nvGraphicFramePr>
        <p:xfrm>
          <a:off x="4846320" y="1274064"/>
          <a:ext cx="3840480" cy="1280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&gt; B  (unsigned or signed)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=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 &lt; B  (unsigned or signed)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846320" y="26624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 top_alu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29824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is a sub-module of top_alu, selected when alu_op = CMPU (0010) or CMP (0011).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GT/EQ/LT outputs are registered in the flags unit alongside zero and overflow.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conditional program flow beyond the basic JZR zero-check.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46320" y="42001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45018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Elaborated schematic and Vivado simulation confirmed correct flag assertion for boundary cases in both signed and unsigned modes.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Unit — Bitwise Operations (Extended Version)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Operations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67867"/>
              </p:ext>
            </p:extLst>
          </p:nvPr>
        </p:nvGraphicFramePr>
        <p:xfrm>
          <a:off x="411480" y="1234440"/>
          <a:ext cx="4160520" cy="18288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alu_op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AND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∧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OR 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∨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XOR Ra, Rb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XOR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Ra ⊕ Rb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NOT 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Bitwise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Ra ← ~Ra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2552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575304"/>
            <a:ext cx="4114800" cy="14173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3602736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logic_unit 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    : in  STD_LOGIC_VECTOR(3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binop_sel: in  STD_LOGIC_VECTOR(1 downto 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  : out STD_LOGIC_VECTOR(3 downto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logic_unit;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binop_sel: 00=OR, 01=AND, 10=XOR, 11=NOT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purely combinational circuit using concurrent signal assignments.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2-bit selection input (binop_sel) routes through a case statement to produce the correct output.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NOT, operand B is ignored; Ra is complemented bit by bit.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presented to the top_alu output mux, which selects it when alu_op indicates a logical operation.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3429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3749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unit operates as a sub-module of top_alu alongside ADD_SUB_4bit and the Comparator.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asserts the appropriate alu_op (3-bit) and binop_sel (2-bit) based on the 4-bit opcode field.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Elaborated design schematic verified in Vivado; logic operations confirmed via simulation.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2724E-676A-DADB-566D-C1A2FB225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2BBB78-AB2B-0062-B609-CEAF9F576F85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Comparator Unit , Logic Unit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EE7DC-645C-F1EF-189A-CB074A86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895" y="564622"/>
            <a:ext cx="4816034" cy="40483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A5D90A-601F-9277-24CD-A9079C3F9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" y="1442054"/>
            <a:ext cx="3942075" cy="2414635"/>
          </a:xfrm>
          <a:prstGeom prst="rect">
            <a:avLst/>
          </a:prstGeom>
        </p:spPr>
      </p:pic>
      <p:sp>
        <p:nvSpPr>
          <p:cNvPr id="18" name="Shape 8">
            <a:extLst>
              <a:ext uri="{FF2B5EF4-FFF2-40B4-BE49-F238E27FC236}">
                <a16:creationId xmlns:a16="http://schemas.microsoft.com/office/drawing/2014/main" id="{E885DC82-FAC9-6241-4C92-C9E808EA8EFE}"/>
              </a:ext>
            </a:extLst>
          </p:cNvPr>
          <p:cNvSpPr/>
          <p:nvPr/>
        </p:nvSpPr>
        <p:spPr>
          <a:xfrm>
            <a:off x="4231488" y="68580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97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Seven-Segment Display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14984"/>
            <a:ext cx="4114800" cy="1292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4-bit ALU result (0–15) into the appropriate seven-segment encoding for the Basys 3 display.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combinational lookup using a case statement (with select in VHDL).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segment outputs drive segments a–g of the display.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additionally uses flag LEDs (zero, overflow, GT, EQ, LT).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667512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9100" y="2832661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Interface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9100" y="3161845"/>
            <a:ext cx="3840480" cy="1157671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6259" y="3189277"/>
            <a:ext cx="3840479" cy="1265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seven_seg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data_in : in  STD_LOGIC_VECTOR(3 downto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seg_out : out STD_LOGIC_VECTOR(6 downto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seven_seg;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71B530-FB34-5226-8FAF-177E2965B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58" y="1648196"/>
            <a:ext cx="3697077" cy="2173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9BACC-34E6-6887-D924-2C5D1843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D8B737-E616-EBA8-ED28-76CBAD54F1F9}"/>
              </a:ext>
            </a:extLst>
          </p:cNvPr>
          <p:cNvSpPr/>
          <p:nvPr/>
        </p:nvSpPr>
        <p:spPr>
          <a:xfrm>
            <a:off x="41910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Seven-Segment Display</a:t>
            </a:r>
            <a:endParaRPr lang="en-US" sz="2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A8748A-83F6-80B7-E85B-C3814232D698}"/>
              </a:ext>
            </a:extLst>
          </p:cNvPr>
          <p:cNvSpPr/>
          <p:nvPr/>
        </p:nvSpPr>
        <p:spPr>
          <a:xfrm>
            <a:off x="5623560" y="807003"/>
            <a:ext cx="2575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Pin Assignments (Basys 3)</a:t>
            </a:r>
            <a:endParaRPr lang="en-US" sz="1300" dirty="0"/>
          </a:p>
        </p:txBody>
      </p:sp>
      <p:graphicFrame>
        <p:nvGraphicFramePr>
          <p:cNvPr id="41" name="Table 1">
            <a:extLst>
              <a:ext uri="{FF2B5EF4-FFF2-40B4-BE49-F238E27FC236}">
                <a16:creationId xmlns:a16="http://schemas.microsoft.com/office/drawing/2014/main" id="{BC88C8F6-8EC7-5171-405B-BC17B4B89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32806"/>
              </p:ext>
            </p:extLst>
          </p:nvPr>
        </p:nvGraphicFramePr>
        <p:xfrm>
          <a:off x="5623560" y="1275679"/>
          <a:ext cx="1684134" cy="25222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92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83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709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547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248034"/>
                  </a:ext>
                </a:extLst>
              </a:tr>
            </a:tbl>
          </a:graphicData>
        </a:graphic>
      </p:graphicFrame>
      <p:sp>
        <p:nvSpPr>
          <p:cNvPr id="14" name="Text 4"/>
          <p:cNvSpPr/>
          <p:nvPr/>
        </p:nvSpPr>
        <p:spPr>
          <a:xfrm>
            <a:off x="411480" y="80700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Encoding (Hex 0–F)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794052"/>
              </p:ext>
            </p:extLst>
          </p:nvPr>
        </p:nvGraphicFramePr>
        <p:xfrm>
          <a:off x="411480" y="1179960"/>
          <a:ext cx="4160520" cy="24688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Segments (a–g, active 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0011001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0000010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1111000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Shape 5">
            <a:extLst>
              <a:ext uri="{FF2B5EF4-FFF2-40B4-BE49-F238E27FC236}">
                <a16:creationId xmlns:a16="http://schemas.microsoft.com/office/drawing/2014/main" id="{086D42C3-0CA7-D1D3-3E86-CB28E46365C7}"/>
              </a:ext>
            </a:extLst>
          </p:cNvPr>
          <p:cNvSpPr/>
          <p:nvPr/>
        </p:nvSpPr>
        <p:spPr>
          <a:xfrm>
            <a:off x="5090160" y="541782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61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Ripple Carry Adder (RCA_4bit)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3931920" cy="58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RCA_4bit is the core arithmetic unit responsible for the ADD and SUB operations. It is constructed from four 1-bit Full Adders.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505905"/>
            <a:ext cx="3931920" cy="1175277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608103"/>
            <a:ext cx="3657600" cy="970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entity RCA_4bit is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Port ( A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C_in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 : out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C_out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out STD_LOGIC);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 RCA_4bit; 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0" cy="420624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B8D24766-46D8-AC13-74BE-D9DABE59915A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Adders</a:t>
            </a:r>
          </a:p>
        </p:txBody>
      </p:sp>
      <p:sp>
        <p:nvSpPr>
          <p:cNvPr id="20" name="Text 11"/>
          <p:cNvSpPr/>
          <p:nvPr/>
        </p:nvSpPr>
        <p:spPr>
          <a:xfrm>
            <a:off x="457200" y="1918107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(ctrl=0): S = A + B with carry-out.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(ctrl=1): S = A + ~B + 1 via 2's complement; Cout used as borrow indicator.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bit-by-bit: simple and area-efficient at low clock speeds.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foundation of ADD_SUB_4bit and the 3-bit PC adder.</a:t>
            </a:r>
            <a:endParaRPr lang="en-US" sz="1150" dirty="0"/>
          </a:p>
        </p:txBody>
      </p:sp>
      <p:sp>
        <p:nvSpPr>
          <p:cNvPr id="21" name="Text 1"/>
          <p:cNvSpPr/>
          <p:nvPr/>
        </p:nvSpPr>
        <p:spPr>
          <a:xfrm>
            <a:off x="4845294" y="896112"/>
            <a:ext cx="24634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Adder (PC Increment)</a:t>
            </a:r>
            <a:endParaRPr lang="en-US" sz="1400" dirty="0"/>
          </a:p>
        </p:txBody>
      </p:sp>
      <p:sp>
        <p:nvSpPr>
          <p:cNvPr id="22" name="Text 2"/>
          <p:cNvSpPr/>
          <p:nvPr/>
        </p:nvSpPr>
        <p:spPr>
          <a:xfrm>
            <a:off x="4845294" y="1252727"/>
            <a:ext cx="3931919" cy="417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specialised version of the RCA designed to compute the next sequential instruction address (PC + 1).</a:t>
            </a:r>
            <a:endParaRPr lang="en-US" sz="1150" dirty="0"/>
          </a:p>
        </p:txBody>
      </p:sp>
      <p:sp>
        <p:nvSpPr>
          <p:cNvPr id="23" name="Shape 6"/>
          <p:cNvSpPr/>
          <p:nvPr/>
        </p:nvSpPr>
        <p:spPr>
          <a:xfrm>
            <a:off x="4845294" y="3394677"/>
            <a:ext cx="3931920" cy="1538988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/>
          <p:cNvSpPr/>
          <p:nvPr/>
        </p:nvSpPr>
        <p:spPr>
          <a:xfrm>
            <a:off x="4982454" y="3486116"/>
            <a:ext cx="3657600" cy="1447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Adder_3bit is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A : in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Y : out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Adder_3bit;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Behavioral of Adder_3bit is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&lt;=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std_logic_vector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(unsigned(A)+1);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Behavioral;</a:t>
            </a:r>
          </a:p>
          <a:p>
            <a:pPr marL="0" indent="0">
              <a:buNone/>
            </a:pPr>
            <a:endParaRPr lang="en-US" sz="900" dirty="0">
              <a:solidFill>
                <a:srgbClr val="212121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11"/>
          <p:cNvSpPr/>
          <p:nvPr/>
        </p:nvSpPr>
        <p:spPr>
          <a:xfrm>
            <a:off x="4845293" y="1706649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PC + 1 combinational on every clock cycle.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passed to the 2-way 3-bit MUX alongside the jump target address d.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 selects PC + 1 for normal sequential execution; selects d when JZR branch is taken (pc_load AND zero_flag = 1).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structurally using three cascaded Full Adder instances consistent with the rest of the datapath.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3-to-8 Decoder (Register Select)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40233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3-bit register address to 8 unique 'Write Enable' signals for the register bank.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658475"/>
            <a:ext cx="3931920" cy="5152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write_en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to prevent accidental writes.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only one register is active at any 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199" y="2403712"/>
            <a:ext cx="3931920" cy="2242602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12622"/>
            <a:ext cx="3336194" cy="2085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'1') then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reg_sel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"000" =&gt; y &lt;= "00000001";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"001" =&gt; y &lt;= "00000010";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"010" =&gt; y &lt;= "00000100";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"011" =&gt; y &lt;= "00001000";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"100" =&gt; y &lt;= "00010000";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"101" =&gt; y &lt;= "00100000";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"110" =&gt; y &lt;= "01000000";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"111" =&gt; y &lt;= "10000000";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others =&gt; y &lt;= "00000000";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end case;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&lt;= "00000000";    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0" cy="416052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to Output Mapping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6693"/>
              </p:ext>
            </p:extLst>
          </p:nvPr>
        </p:nvGraphicFramePr>
        <p:xfrm>
          <a:off x="4754880" y="1252728"/>
          <a:ext cx="3931920" cy="304495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Address (reg_sel)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Bit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Register 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Bit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0">
            <a:extLst>
              <a:ext uri="{FF2B5EF4-FFF2-40B4-BE49-F238E27FC236}">
                <a16:creationId xmlns:a16="http://schemas.microsoft.com/office/drawing/2014/main" id="{3F66F7EC-AFFE-1A75-DDFD-C79E43F6F459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Decoders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8-way 4-bit Multiplexer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3229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reading interface for the Register Bank, allowing the processor to access Ra and Rb values simultaneously.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868680"/>
            <a:ext cx="0" cy="4160520"/>
          </a:xfrm>
          <a:prstGeom prst="line">
            <a:avLst/>
          </a:prstGeom>
          <a:noFill/>
          <a:ln w="1143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9590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8-to-1 mux instances share the same register bank outputs but use different select signals (read_sel_a and read_sel_b).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feeds ALU input A; Rb feeds ALU input B — both driven in the same clock cycle.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a with-select concurrent signal assignment for purely combinational operation.</a:t>
            </a:r>
            <a:endParaRPr lang="en-US" sz="11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latency: register values appear at ALU inputs within the same clock period as the decode stage.</a:t>
            </a:r>
            <a:endParaRPr lang="en-US" sz="115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068EFC8D-6232-1A5C-7CE2-1ABA6B7DDD32}"/>
              </a:ext>
            </a:extLst>
          </p:cNvPr>
          <p:cNvSpPr/>
          <p:nvPr/>
        </p:nvSpPr>
        <p:spPr>
          <a:xfrm>
            <a:off x="475488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3-bit Multiplexer (Jump Select)</a:t>
            </a:r>
            <a:endParaRPr lang="en-US" sz="14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C617E85-4CFB-9692-B7E0-834AC6E058A2}"/>
              </a:ext>
            </a:extLst>
          </p:cNvPr>
          <p:cNvSpPr/>
          <p:nvPr/>
        </p:nvSpPr>
        <p:spPr>
          <a:xfrm>
            <a:off x="4777739" y="1213422"/>
            <a:ext cx="36575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next source for the Program Counter (PC).</a:t>
            </a:r>
            <a:endParaRPr lang="en-US" sz="11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FA827C4-7CB1-925A-F5AA-2377570AECAA}"/>
              </a:ext>
            </a:extLst>
          </p:cNvPr>
          <p:cNvSpPr/>
          <p:nvPr/>
        </p:nvSpPr>
        <p:spPr>
          <a:xfrm>
            <a:off x="4777739" y="1506030"/>
            <a:ext cx="3931920" cy="9148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: PC + 1 (normal sequential execution).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: Jump Address d extracted from instruction bits [2:0].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; Driven by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pc_load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from the instruction decoder.</a:t>
            </a:r>
            <a:endParaRPr lang="en-US" sz="11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CCE638A-A51C-A5AD-1AB1-E2E07C7136DB}"/>
              </a:ext>
            </a:extLst>
          </p:cNvPr>
          <p:cNvSpPr/>
          <p:nvPr/>
        </p:nvSpPr>
        <p:spPr>
          <a:xfrm>
            <a:off x="4754880" y="2505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4-bit Multiplexer (Writeback)</a:t>
            </a:r>
            <a:endParaRPr lang="en-US" sz="14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3918334A-A9B1-B302-5CAC-474112D4D1D5}"/>
              </a:ext>
            </a:extLst>
          </p:cNvPr>
          <p:cNvSpPr/>
          <p:nvPr/>
        </p:nvSpPr>
        <p:spPr>
          <a:xfrm>
            <a:off x="4754880" y="2862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source of data to be written back into the Register Bank.</a:t>
            </a:r>
            <a:endParaRPr lang="en-US" sz="115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CC60942-0C7D-7DA8-99BE-8A90D93B3475}"/>
              </a:ext>
            </a:extLst>
          </p:cNvPr>
          <p:cNvSpPr/>
          <p:nvPr/>
        </p:nvSpPr>
        <p:spPr>
          <a:xfrm>
            <a:off x="4777739" y="3239296"/>
            <a:ext cx="3931920" cy="7738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0 : ALU Result (for arithmetic / logic instructions).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 : Immediate Value d (for MOVI instruction). </a:t>
            </a:r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: </a:t>
            </a:r>
            <a:r>
              <a:rPr lang="en-US" sz="115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wb_sel_imm</a:t>
            </a: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from the instruction decoder.</a:t>
            </a:r>
            <a:endParaRPr lang="en-US" sz="11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281F01C-696F-9342-AAA8-0407947C730D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Multiplexers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Registers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8999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Register (D Flip-Flop)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19181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D flip-flop with synchronous reset and enable.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rising clock edge: if reset='1' → Q ← 0000; else if enable='1' → Q ← 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instances form the register bank; one instance is the PC register.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instance stores the slow-clock counter for frequency division.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92040" y="689997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PC Register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92040" y="1019181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design to the 4-bit register but 3 bits wide to address 8 ROM locations.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input driven by PC MUX output (either PC+1 or jump target d).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tied to slow clock; reset tied to the centre button (btnC) on Basys 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4709160" y="822960"/>
            <a:ext cx="0" cy="3005237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E0BEB2-7C7B-9C8C-D1B3-4DACB9E8D86E}"/>
              </a:ext>
            </a:extLst>
          </p:cNvPr>
          <p:cNvSpPr/>
          <p:nvPr/>
        </p:nvSpPr>
        <p:spPr>
          <a:xfrm>
            <a:off x="4892040" y="2317629"/>
            <a:ext cx="3840480" cy="11277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A32C266-621F-A503-BA92-2EC6227DCAE1}"/>
              </a:ext>
            </a:extLst>
          </p:cNvPr>
          <p:cNvSpPr/>
          <p:nvPr/>
        </p:nvSpPr>
        <p:spPr>
          <a:xfrm>
            <a:off x="5029200" y="2345061"/>
            <a:ext cx="361188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pc_register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enable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reset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 : in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Q : out STD_LOGIC_VECTOR (2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pc_register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891CC189-7DDE-AAB2-F776-4DF4ED501EB9}"/>
              </a:ext>
            </a:extLst>
          </p:cNvPr>
          <p:cNvSpPr/>
          <p:nvPr/>
        </p:nvSpPr>
        <p:spPr>
          <a:xfrm>
            <a:off x="411480" y="2438581"/>
            <a:ext cx="3840480" cy="1315211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FF2C3EDB-8137-4693-5593-60A38F079F70}"/>
              </a:ext>
            </a:extLst>
          </p:cNvPr>
          <p:cNvSpPr/>
          <p:nvPr/>
        </p:nvSpPr>
        <p:spPr>
          <a:xfrm>
            <a:off x="548640" y="2466013"/>
            <a:ext cx="3611880" cy="1200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register_4bit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(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reset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enable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we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 : in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Q : out STD_LOGIC_VECTOR (3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register_4bit;</a:t>
            </a:r>
            <a:endParaRPr lang="en-US" sz="90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73976DD6-496C-DC64-03DD-44625D8DD85D}"/>
              </a:ext>
            </a:extLst>
          </p:cNvPr>
          <p:cNvSpPr/>
          <p:nvPr/>
        </p:nvSpPr>
        <p:spPr>
          <a:xfrm>
            <a:off x="4892040" y="3629871"/>
            <a:ext cx="270225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Register Behaviour</a:t>
            </a:r>
            <a:endParaRPr lang="en-US" sz="14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80EC148E-B4D2-92A1-B4E3-B95C6E6C1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87442"/>
              </p:ext>
            </p:extLst>
          </p:nvPr>
        </p:nvGraphicFramePr>
        <p:xfrm>
          <a:off x="4315080" y="3963349"/>
          <a:ext cx="4691760" cy="10972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0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clk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= '1'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0000 / 000 (cleared)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= '1', reset = '0'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D (data loaded)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enable = '0', reset = '0'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Rising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Q unchanged (hold)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4C4C1-40BB-B27E-75EB-D8466965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AFCAF8-F38A-3AE4-2968-03EB412C8C32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 Building Blocks — Flags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B7B15E-9CA2-B641-8D60-A6786FAE3152}"/>
              </a:ext>
            </a:extLst>
          </p:cNvPr>
          <p:cNvSpPr/>
          <p:nvPr/>
        </p:nvSpPr>
        <p:spPr>
          <a:xfrm>
            <a:off x="4709160" y="822960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45E4D0-B290-37E8-64F6-F116244C75F3}"/>
              </a:ext>
            </a:extLst>
          </p:cNvPr>
          <p:cNvSpPr/>
          <p:nvPr/>
        </p:nvSpPr>
        <p:spPr>
          <a:xfrm>
            <a:off x="41148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Unit Optimized / Extended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E97058-09FD-863A-149C-AA827F999DCE}"/>
              </a:ext>
            </a:extLst>
          </p:cNvPr>
          <p:cNvSpPr/>
          <p:nvPr/>
        </p:nvSpPr>
        <p:spPr>
          <a:xfrm>
            <a:off x="411480" y="1170432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register capturing output flags from the ALU.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Optimized: stores zero (Z) and overflow (V) from ADD_SUB_4bit.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Extended: additionally stores GT, EQ, LT from the Comparator.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flag_en</a:t>
            </a: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 (extended only) controls when flags are updated — prevents MOVI/JZR from inadvertently overwriting flags.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held stable between updates, available to the decoder each cycle.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2C27470-E9B3-C059-E36F-4C6624523EB8}"/>
              </a:ext>
            </a:extLst>
          </p:cNvPr>
          <p:cNvSpPr/>
          <p:nvPr/>
        </p:nvSpPr>
        <p:spPr>
          <a:xfrm>
            <a:off x="411480" y="3090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Entity (Optimized)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8BDB21-4B36-9D7A-86FF-1C43CE146AD0}"/>
              </a:ext>
            </a:extLst>
          </p:cNvPr>
          <p:cNvSpPr/>
          <p:nvPr/>
        </p:nvSpPr>
        <p:spPr>
          <a:xfrm>
            <a:off x="411480" y="3410712"/>
            <a:ext cx="3840480" cy="15544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E89DF7-7A24-6BD6-1F4F-110B231694F9}"/>
              </a:ext>
            </a:extLst>
          </p:cNvPr>
          <p:cNvSpPr/>
          <p:nvPr/>
        </p:nvSpPr>
        <p:spPr>
          <a:xfrm>
            <a:off x="548640" y="3438144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flags 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clk, enable, reset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flag_en  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alu_zero 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alu_overflow : in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        : out STD_LOGIC;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: out STD_LOGIC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flags;</a:t>
            </a:r>
            <a:endParaRPr lang="en-US" sz="9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35336D6-6BB5-7084-D841-5FFBE4CC328E}"/>
              </a:ext>
            </a:extLst>
          </p:cNvPr>
          <p:cNvSpPr/>
          <p:nvPr/>
        </p:nvSpPr>
        <p:spPr>
          <a:xfrm>
            <a:off x="499110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Entity (Extended)</a:t>
            </a:r>
            <a:endParaRPr lang="en-US" sz="13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B01D83A6-6F31-EBDA-3798-3A5B017E3900}"/>
              </a:ext>
            </a:extLst>
          </p:cNvPr>
          <p:cNvSpPr/>
          <p:nvPr/>
        </p:nvSpPr>
        <p:spPr>
          <a:xfrm>
            <a:off x="4991100" y="1161288"/>
            <a:ext cx="3840480" cy="2641092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FD00CEB-71B9-8F56-3C28-56DF6DBDA439}"/>
              </a:ext>
            </a:extLst>
          </p:cNvPr>
          <p:cNvSpPr/>
          <p:nvPr/>
        </p:nvSpPr>
        <p:spPr>
          <a:xfrm>
            <a:off x="5128260" y="1188720"/>
            <a:ext cx="3611880" cy="2613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flags is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(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 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cmp_en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    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alu_zero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alu_overflow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alu_GT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alu_EQ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alu_LT</a:t>
            </a:r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: in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GT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EQ           : out STD_LOGIC;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LT           : out STD_LOGIC );</a:t>
            </a:r>
          </a:p>
          <a:p>
            <a:r>
              <a:rPr lang="en-US" sz="9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flags;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30453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ED70BB-7A11-3311-C48A-E99A896C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"/>
          <a:stretch>
            <a:fillRect/>
          </a:stretch>
        </p:blipFill>
        <p:spPr>
          <a:xfrm>
            <a:off x="4783545" y="967628"/>
            <a:ext cx="4135268" cy="266546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65FBDC1-2C8C-8909-F2BC-CBB064BCC108}"/>
              </a:ext>
            </a:extLst>
          </p:cNvPr>
          <p:cNvGrpSpPr/>
          <p:nvPr/>
        </p:nvGrpSpPr>
        <p:grpSpPr>
          <a:xfrm>
            <a:off x="7690513" y="2985758"/>
            <a:ext cx="881987" cy="849263"/>
            <a:chOff x="7690513" y="2985758"/>
            <a:chExt cx="881987" cy="849263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24E8746-F92A-5BE6-4C5F-7A2523759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513" y="3001907"/>
              <a:ext cx="66761" cy="83311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3291E8-6CB8-DD28-239B-688A7DB8D9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334" y="3018056"/>
              <a:ext cx="0" cy="81696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56ED6DE-DE27-4F63-713E-9F73264D9E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7395" y="3001907"/>
              <a:ext cx="120444" cy="81696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35F85A-8CA8-8B11-6625-E1EAF7FBA7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7456" y="2985758"/>
              <a:ext cx="185044" cy="79835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Pin Mappings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33823"/>
              </p:ext>
            </p:extLst>
          </p:nvPr>
        </p:nvGraphicFramePr>
        <p:xfrm>
          <a:off x="411480" y="1170432"/>
          <a:ext cx="3992879" cy="370332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Clk_100MHz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system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(btnC)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Synchronous processor 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0 (R7[0])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1 (R7[1])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2 (R7[2])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 3 (R7[3])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seg[0–6]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W7–U7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a–g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an[0–3]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U2–W4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anodes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26280" y="73883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E74394-B441-AEDC-CA6C-5FF0A647291B}"/>
              </a:ext>
            </a:extLst>
          </p:cNvPr>
          <p:cNvCxnSpPr>
            <a:cxnSpLocks/>
          </p:cNvCxnSpPr>
          <p:nvPr/>
        </p:nvCxnSpPr>
        <p:spPr>
          <a:xfrm flipV="1">
            <a:off x="7103660" y="2571750"/>
            <a:ext cx="634621" cy="12632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F5399B-1790-07D5-B5B6-ADB52F3B32B3}"/>
              </a:ext>
            </a:extLst>
          </p:cNvPr>
          <p:cNvSpPr txBox="1"/>
          <p:nvPr/>
        </p:nvSpPr>
        <p:spPr>
          <a:xfrm>
            <a:off x="6598695" y="3784115"/>
            <a:ext cx="820916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Reset button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501408-A3CF-3C16-080A-7989DE3CE076}"/>
              </a:ext>
            </a:extLst>
          </p:cNvPr>
          <p:cNvSpPr txBox="1"/>
          <p:nvPr/>
        </p:nvSpPr>
        <p:spPr>
          <a:xfrm>
            <a:off x="7509228" y="3784115"/>
            <a:ext cx="134816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R7[3]  R7[2]  R7[1]  R7[0]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130AC-C1AA-D2AE-C47E-0D1325E2E3D1}"/>
              </a:ext>
            </a:extLst>
          </p:cNvPr>
          <p:cNvSpPr txBox="1"/>
          <p:nvPr/>
        </p:nvSpPr>
        <p:spPr>
          <a:xfrm>
            <a:off x="4887716" y="3784115"/>
            <a:ext cx="63962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overflow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5A8139-E8CE-7C20-D49E-0ABBF0648BEE}"/>
              </a:ext>
            </a:extLst>
          </p:cNvPr>
          <p:cNvSpPr txBox="1"/>
          <p:nvPr/>
        </p:nvSpPr>
        <p:spPr>
          <a:xfrm>
            <a:off x="5576019" y="3784115"/>
            <a:ext cx="40465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zero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099291E-44A0-48B4-0177-00ED91EBFB8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5207530" y="3001907"/>
            <a:ext cx="59479" cy="7822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9F3CEB-53C7-D5FB-90D7-2978BAD21168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487020" y="2985758"/>
            <a:ext cx="291328" cy="79835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3AB60E0-2D9D-CD18-11B0-9C29F9D811DE}"/>
              </a:ext>
            </a:extLst>
          </p:cNvPr>
          <p:cNvSpPr txBox="1"/>
          <p:nvPr/>
        </p:nvSpPr>
        <p:spPr>
          <a:xfrm>
            <a:off x="5644207" y="4121281"/>
            <a:ext cx="1278794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Seven segment display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F28D6B-C637-F18F-B856-8FC6AD2EBEA5}"/>
              </a:ext>
            </a:extLst>
          </p:cNvPr>
          <p:cNvCxnSpPr>
            <a:cxnSpLocks/>
            <a:stCxn id="37" idx="0"/>
          </p:cNvCxnSpPr>
          <p:nvPr/>
        </p:nvCxnSpPr>
        <p:spPr>
          <a:xfrm flipH="1" flipV="1">
            <a:off x="6114196" y="2833084"/>
            <a:ext cx="169408" cy="12881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5C192-8A34-AEAE-3F27-FCA593FCD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E3E693-B775-BE39-8156-FA6482EE9EFF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Pin Mappings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38ABE6-030B-F3BA-AE69-68C84119D432}"/>
              </a:ext>
            </a:extLst>
          </p:cNvPr>
          <p:cNvSpPr/>
          <p:nvPr/>
        </p:nvSpPr>
        <p:spPr>
          <a:xfrm>
            <a:off x="4560399" y="738835"/>
            <a:ext cx="0" cy="429768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33A624-A923-1D57-4351-1FD5CE72A286}"/>
              </a:ext>
            </a:extLst>
          </p:cNvPr>
          <p:cNvSpPr/>
          <p:nvPr/>
        </p:nvSpPr>
        <p:spPr>
          <a:xfrm>
            <a:off x="41148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 — Additional Pins</a:t>
            </a:r>
            <a:endParaRPr lang="en-US" sz="1300" dirty="0"/>
          </a:p>
        </p:txBody>
      </p:sp>
      <p:graphicFrame>
        <p:nvGraphicFramePr>
          <p:cNvPr id="49" name="Table 1">
            <a:extLst>
              <a:ext uri="{FF2B5EF4-FFF2-40B4-BE49-F238E27FC236}">
                <a16:creationId xmlns:a16="http://schemas.microsoft.com/office/drawing/2014/main" id="{87811567-9618-F735-2DD0-D20AA5BE1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699063"/>
              </p:ext>
            </p:extLst>
          </p:nvPr>
        </p:nvGraphicFramePr>
        <p:xfrm>
          <a:off x="411479" y="1170432"/>
          <a:ext cx="4084320" cy="38252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78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Clk_100MHz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 MHz system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reset (btnC)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Synchronous processor reset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btnU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T18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Auxiliary button (extended)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sw[0–13] and </a:t>
                      </a:r>
                      <a:r>
                        <a:rPr lang="en-US" sz="1050" dirty="0" err="1">
                          <a:solidFill>
                            <a:srgbClr val="212121"/>
                          </a:solidFill>
                        </a:rPr>
                        <a:t>sw</a:t>
                      </a: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[15]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V17–U1 and 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15 input switches for extended 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U16–V19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Result bits [3:0]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Zero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Overflow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led[6]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N3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GT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EQ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led[8]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U3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LT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seg[0–6] / an[0–3]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W7–W4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out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Seven-segment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89CF199-2341-67CD-8A7A-E6D39847BD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"/>
          <a:stretch>
            <a:fillRect/>
          </a:stretch>
        </p:blipFill>
        <p:spPr>
          <a:xfrm>
            <a:off x="4783545" y="1554943"/>
            <a:ext cx="4135268" cy="26654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0D956A-DF0E-2C8F-DF46-4498E2B97DB6}"/>
              </a:ext>
            </a:extLst>
          </p:cNvPr>
          <p:cNvSpPr txBox="1"/>
          <p:nvPr/>
        </p:nvSpPr>
        <p:spPr>
          <a:xfrm>
            <a:off x="4895678" y="4569767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mode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46CDF6-EC82-710A-4234-3D1C43AC53F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166704" y="3964592"/>
            <a:ext cx="60389" cy="6051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A59A7097-C75D-AB52-3244-FBBAA2E42874}"/>
              </a:ext>
            </a:extLst>
          </p:cNvPr>
          <p:cNvSpPr/>
          <p:nvPr/>
        </p:nvSpPr>
        <p:spPr>
          <a:xfrm rot="16200000">
            <a:off x="6959133" y="2704277"/>
            <a:ext cx="167249" cy="2865010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C3FB9E-2020-CE9F-274A-44191B769FE2}"/>
              </a:ext>
            </a:extLst>
          </p:cNvPr>
          <p:cNvSpPr txBox="1"/>
          <p:nvPr/>
        </p:nvSpPr>
        <p:spPr>
          <a:xfrm>
            <a:off x="6470063" y="4223519"/>
            <a:ext cx="1145388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Manual instructions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24A008-33C0-14EB-A601-F1BE34620F9E}"/>
              </a:ext>
            </a:extLst>
          </p:cNvPr>
          <p:cNvGrpSpPr/>
          <p:nvPr/>
        </p:nvGrpSpPr>
        <p:grpSpPr>
          <a:xfrm>
            <a:off x="7684595" y="3540578"/>
            <a:ext cx="906671" cy="1099661"/>
            <a:chOff x="7690513" y="2985758"/>
            <a:chExt cx="906671" cy="849263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6E64355-D14C-061B-3B30-2460F8EC9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0513" y="3001907"/>
              <a:ext cx="66761" cy="833114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579891C-6E44-0DBE-A0F3-5460F07B19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334" y="3018056"/>
              <a:ext cx="0" cy="81696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D770C2-CB0E-202C-8016-B161E2BFF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7395" y="3001907"/>
              <a:ext cx="120444" cy="81696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B90341-D94C-6FB5-A7BF-C5341A8334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87456" y="2985758"/>
              <a:ext cx="209728" cy="794838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C255623-023C-ADAC-B0D6-6A2D3915D153}"/>
              </a:ext>
            </a:extLst>
          </p:cNvPr>
          <p:cNvSpPr txBox="1"/>
          <p:nvPr/>
        </p:nvSpPr>
        <p:spPr>
          <a:xfrm>
            <a:off x="7503310" y="4569767"/>
            <a:ext cx="134816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R7[3]  R7[2]  R7[1]  R7[0]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381930-B22D-18C9-0B06-626CA5EDC497}"/>
              </a:ext>
            </a:extLst>
          </p:cNvPr>
          <p:cNvSpPr txBox="1"/>
          <p:nvPr/>
        </p:nvSpPr>
        <p:spPr>
          <a:xfrm>
            <a:off x="4689254" y="1243364"/>
            <a:ext cx="632908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overflow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D9981-816B-1CE1-E6CD-110A0D45BBAF}"/>
              </a:ext>
            </a:extLst>
          </p:cNvPr>
          <p:cNvSpPr txBox="1"/>
          <p:nvPr/>
        </p:nvSpPr>
        <p:spPr>
          <a:xfrm>
            <a:off x="5169632" y="945762"/>
            <a:ext cx="406715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zero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7E4C23-C636-6C8C-DCCE-BFCF759D29C2}"/>
              </a:ext>
            </a:extLst>
          </p:cNvPr>
          <p:cNvSpPr txBox="1"/>
          <p:nvPr/>
        </p:nvSpPr>
        <p:spPr>
          <a:xfrm>
            <a:off x="5457180" y="1239085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greater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A1E251-04BF-EAE7-C2B5-515A0EB8DFD2}"/>
              </a:ext>
            </a:extLst>
          </p:cNvPr>
          <p:cNvSpPr txBox="1"/>
          <p:nvPr/>
        </p:nvSpPr>
        <p:spPr>
          <a:xfrm>
            <a:off x="5935503" y="939961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equal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4B88D4-BB0C-E2D5-6A62-515AA7B6ED16}"/>
              </a:ext>
            </a:extLst>
          </p:cNvPr>
          <p:cNvSpPr txBox="1"/>
          <p:nvPr/>
        </p:nvSpPr>
        <p:spPr>
          <a:xfrm>
            <a:off x="6394221" y="1233783"/>
            <a:ext cx="542051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lower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F257CC-1655-06CF-6227-F1B81E1D10F8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005708" y="1474196"/>
            <a:ext cx="262352" cy="20376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8E75A44-7680-BDD6-45E4-341E4F7C2B57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5372990" y="1176594"/>
            <a:ext cx="118537" cy="23352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5098F2-2674-A8AF-0AC0-0980798F627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5715286" y="1469917"/>
            <a:ext cx="12920" cy="20419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69EBD0F-663A-807B-0133-CCF531BE463C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5905005" y="1170793"/>
            <a:ext cx="301524" cy="23410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54A1111-757B-7481-5084-F4440C702BB8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121709" y="1464615"/>
            <a:ext cx="543538" cy="204720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D6DB376-C352-1606-2EF8-125ADFEF60B6}"/>
              </a:ext>
            </a:extLst>
          </p:cNvPr>
          <p:cNvSpPr txBox="1"/>
          <p:nvPr/>
        </p:nvSpPr>
        <p:spPr>
          <a:xfrm>
            <a:off x="7028597" y="945175"/>
            <a:ext cx="996287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Instruction push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7B779-2D6D-0D39-730A-B085CE04B6BC}"/>
              </a:ext>
            </a:extLst>
          </p:cNvPr>
          <p:cNvSpPr txBox="1"/>
          <p:nvPr/>
        </p:nvSpPr>
        <p:spPr>
          <a:xfrm>
            <a:off x="8113594" y="1208122"/>
            <a:ext cx="477672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 dirty="0"/>
              <a:t>reset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1B22776-CBD6-417B-6488-1B557E3DAADB}"/>
              </a:ext>
            </a:extLst>
          </p:cNvPr>
          <p:cNvCxnSpPr>
            <a:cxnSpLocks/>
          </p:cNvCxnSpPr>
          <p:nvPr/>
        </p:nvCxnSpPr>
        <p:spPr>
          <a:xfrm>
            <a:off x="7503310" y="1227140"/>
            <a:ext cx="214665" cy="166053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829AB33-3A31-7DD8-6462-0E09DB665824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7774335" y="1438954"/>
            <a:ext cx="578095" cy="17259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42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 — </a:t>
            </a:r>
            <a:r>
              <a:rPr lang="en-US" sz="2600" b="1" dirty="0" err="1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Basys</a:t>
            </a: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Version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94860" y="822960"/>
            <a:ext cx="0" cy="234696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5488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Version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11480" y="29763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Analysis</a:t>
            </a:r>
            <a:endParaRPr lang="en-US" sz="1300" dirty="0"/>
          </a:p>
        </p:txBody>
      </p:sp>
      <p:graphicFrame>
        <p:nvGraphicFramePr>
          <p:cNvPr id="7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920341"/>
              </p:ext>
            </p:extLst>
          </p:nvPr>
        </p:nvGraphicFramePr>
        <p:xfrm>
          <a:off x="411480" y="3314700"/>
          <a:ext cx="6883401" cy="14630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02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Extended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Increase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LUTs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X3.57 - due to top_alu, comparator, and logic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Flip-Flops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100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X1.75 - additional flag registers (GT/EQ/LT)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I/O Buffers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38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x2 - switches + extra flag LEDs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FD7CFEC-B9F7-FAD4-266B-17E9489E2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1" y="1170432"/>
            <a:ext cx="4023360" cy="1446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F09678-1A6E-D02A-5D6F-A40D66C3E0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42"/>
          <a:stretch>
            <a:fillRect/>
          </a:stretch>
        </p:blipFill>
        <p:spPr>
          <a:xfrm>
            <a:off x="4754881" y="1201193"/>
            <a:ext cx="4257040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D7BC6-EAC9-B401-E9DA-A0E7B297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547FEE-6DFF-7CB3-94A4-616DF6A905E0}"/>
              </a:ext>
            </a:extLst>
          </p:cNvPr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5AFCAAB4-58B2-F715-96FF-CC972027FC65}"/>
              </a:ext>
            </a:extLst>
          </p:cNvPr>
          <p:cNvSpPr/>
          <p:nvPr/>
        </p:nvSpPr>
        <p:spPr>
          <a:xfrm>
            <a:off x="411480" y="863346"/>
            <a:ext cx="8321040" cy="38458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1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Signed vs Unsigned Comparator</a:t>
            </a:r>
          </a:p>
          <a:p>
            <a:pPr lvl="1">
              <a:buSzPct val="100000"/>
            </a:pPr>
            <a:r>
              <a:rPr lang="en-US" sz="1100" dirty="0"/>
              <a:t>Implementing both CMP and CMPU in one unit required separate logic paths with mode selection.</a:t>
            </a:r>
          </a:p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Manual Instruction Mode (Extended)</a:t>
            </a:r>
          </a:p>
          <a:p>
            <a:pPr lvl="1">
              <a:buSzPct val="100000"/>
            </a:pPr>
            <a:r>
              <a:rPr lang="en-US" sz="1100" dirty="0"/>
              <a:t>Switching between ROM and manual instructions without glitches using </a:t>
            </a:r>
            <a:r>
              <a:rPr lang="en-US" sz="1100" dirty="0" err="1"/>
              <a:t>mode_sel</a:t>
            </a:r>
            <a:r>
              <a:rPr lang="en-US" sz="1100" dirty="0"/>
              <a:t> switch and Button U.</a:t>
            </a:r>
          </a:p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Seven-Segment with Negative Numbers</a:t>
            </a:r>
          </a:p>
          <a:p>
            <a:pPr lvl="1">
              <a:buSzPct val="100000"/>
            </a:pPr>
            <a:r>
              <a:rPr lang="en-US" sz="1100" dirty="0"/>
              <a:t>Displaying minus sign for negative R7 required absolute value conversion before encoding.</a:t>
            </a:r>
          </a:p>
          <a:p>
            <a:pPr marL="228600" indent="-228600">
              <a:buSzPct val="100000"/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</a:rPr>
              <a:t>Resource Trade-offs</a:t>
            </a:r>
          </a:p>
          <a:p>
            <a:pPr lvl="1">
              <a:buSzPct val="100000"/>
            </a:pPr>
            <a:r>
              <a:rPr lang="en-US" sz="1100" dirty="0"/>
              <a:t>Extended version added 7 instructions → increased LUT usage while still fitting </a:t>
            </a:r>
            <a:r>
              <a:rPr lang="en-US" sz="1100" dirty="0" err="1"/>
              <a:t>Basys</a:t>
            </a:r>
            <a:r>
              <a:rPr lang="en-US" sz="1100" dirty="0"/>
              <a:t> 3 constraints.</a:t>
            </a:r>
          </a:p>
        </p:txBody>
      </p:sp>
    </p:spTree>
    <p:extLst>
      <p:ext uri="{BB962C8B-B14F-4D97-AF65-F5344CB8AC3E}">
        <p14:creationId xmlns:p14="http://schemas.microsoft.com/office/powerpoint/2010/main" val="2686760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062600"/>
              </p:ext>
            </p:extLst>
          </p:nvPr>
        </p:nvGraphicFramePr>
        <p:xfrm>
          <a:off x="411480" y="1005840"/>
          <a:ext cx="8321040" cy="32004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Index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Contributions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Jayathilake P. I. 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240288D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ALU, Seven-Segment Display, Top Module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Jayawardana Y. G. L. 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240294R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Program ROM, Instruction Decoder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Jayawardhana J. A. R. 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240297E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Program Counter, 3-bit Adder, Multiplexers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Kalpashaka N. G. L. 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240312A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Register Bank, 3-to-8 Decoder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12121"/>
                          </a:solidFill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CS1050 · Group 23 · Department of Computer Science and Engineering · University of Moratuwa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013045" y="2418588"/>
            <a:ext cx="511791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Nanoprocessor Design  ·  CS1050  ·  Group 23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Vivado and tested on Basys 3 FPGA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5477</Words>
  <Application>Microsoft Office PowerPoint</Application>
  <PresentationFormat>On-screen Show (16:9)</PresentationFormat>
  <Paragraphs>1009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Nanoprocessor Design — CS1050 Group 23</dc:title>
  <dc:subject>PptxGenJS Presentation</dc:subject>
  <dc:creator>PptxGenJS</dc:creator>
  <cp:lastModifiedBy>Lakshan Jayawardana</cp:lastModifiedBy>
  <cp:revision>11</cp:revision>
  <dcterms:created xsi:type="dcterms:W3CDTF">2026-05-09T03:37:37Z</dcterms:created>
  <dcterms:modified xsi:type="dcterms:W3CDTF">2026-05-12T09:36:56Z</dcterms:modified>
</cp:coreProperties>
</file>