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3"/>
  </p:notesMasterIdLst>
  <p:sldIdLst>
    <p:sldId id="256" r:id="rId2"/>
    <p:sldId id="257" r:id="rId3"/>
    <p:sldId id="258" r:id="rId4"/>
    <p:sldId id="259" r:id="rId5"/>
    <p:sldId id="260" r:id="rId6"/>
    <p:sldId id="284" r:id="rId7"/>
    <p:sldId id="261" r:id="rId8"/>
    <p:sldId id="262" r:id="rId9"/>
    <p:sldId id="263" r:id="rId10"/>
    <p:sldId id="285" r:id="rId11"/>
    <p:sldId id="264" r:id="rId12"/>
    <p:sldId id="265" r:id="rId13"/>
    <p:sldId id="266" r:id="rId14"/>
    <p:sldId id="267" r:id="rId15"/>
    <p:sldId id="268" r:id="rId16"/>
    <p:sldId id="269" r:id="rId17"/>
    <p:sldId id="286" r:id="rId18"/>
    <p:sldId id="270" r:id="rId19"/>
    <p:sldId id="288" r:id="rId20"/>
    <p:sldId id="271" r:id="rId21"/>
    <p:sldId id="287" r:id="rId22"/>
    <p:sldId id="272" r:id="rId23"/>
    <p:sldId id="289" r:id="rId24"/>
    <p:sldId id="273" r:id="rId25"/>
    <p:sldId id="274" r:id="rId26"/>
    <p:sldId id="290" r:id="rId27"/>
    <p:sldId id="275" r:id="rId28"/>
    <p:sldId id="291" r:id="rId29"/>
    <p:sldId id="276" r:id="rId30"/>
    <p:sldId id="277" r:id="rId31"/>
    <p:sldId id="295" r:id="rId32"/>
    <p:sldId id="296" r:id="rId33"/>
    <p:sldId id="297" r:id="rId34"/>
    <p:sldId id="278" r:id="rId35"/>
    <p:sldId id="293" r:id="rId36"/>
    <p:sldId id="279" r:id="rId37"/>
    <p:sldId id="292" r:id="rId38"/>
    <p:sldId id="280" r:id="rId39"/>
    <p:sldId id="281" r:id="rId40"/>
    <p:sldId id="282" r:id="rId41"/>
    <p:sldId id="283" r:id="rId4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74F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61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68228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489A14-6313-C637-C3C2-C9EE23323D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EFD887-B09A-5BD0-D9C5-B379324C24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9F1F7A-FE5A-D02B-8281-0994191A17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85CE2E-CF84-4C67-4DB7-57CFF62EB1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0934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29484B-B157-9673-8722-9FC747F29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7CBC84-4963-3A62-8924-CBA9E9C728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A89C9B-1DB4-AD02-43EE-651C21D406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B4AC31-5A90-9753-F440-5AB267989B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4028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5CFD23-4391-C27B-AC77-9328ED90C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8CBABB-EF37-8904-BE10-EBC805C6CC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D93A65-85E5-5699-97AA-A6C5B5921B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1935A6-CF3A-61D9-0729-94912F78A8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51486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538999-4C80-B6E5-6AF5-F99BA839CE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344BED-B40B-67DB-D65B-50981CAF6E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E64FE2-B7CB-45FF-0038-6B703A5EAD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2812CD-83A6-CCEC-0D73-17274E41AE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25869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F9BFBC-8AE3-E697-E572-48F08DC866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4C1F60-CB3C-FD6F-5135-17F2C30EBB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E98930-440B-8C6A-502E-C1578DB40D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F9D2DE-A933-9759-A468-D62013AAF9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53619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90DCF3-A454-E875-E311-63B8448D51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9C6805-8607-44E1-7E98-5A0F3DA4DA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BE2869-0002-1E92-77A5-86C4E3FE0B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12BF1F-9EE9-17F8-306F-81DC0F1FA16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55837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7D46DA-730C-12CC-6B60-30C500AA2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C14BEC-3977-FED6-AF9C-FB09B2CC4C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200A0D-3E91-CA3B-2F73-E86637A828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6CCE6E-6ACC-D1E6-0682-823164272F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604418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C09B41-E6E3-E019-26AF-D5585E10F8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D27F7E-26EB-D0AC-CFF8-570642C4FC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379DD7-BBA6-AB35-7D3A-B1E2C67FA9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20FEE4-B19E-D52F-470C-09019502AB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53627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9AD3EE-D59C-8B8C-7331-73DF2E912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47AD7B-08F9-86C2-3D2F-2CF9B9E088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C36F69-4BA8-E254-BF69-352E8A3C5B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579234-5573-4FA5-FADF-E1D86B6B3F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55354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B9A02B-778A-43F4-9A41-A8B5261074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97E1D3-BE2E-8B58-B6E5-8CEC8F49C4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FA2137-C015-FC05-6BB8-D4C5DE5CAC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56CF84-1C20-D890-7720-63724DF968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53301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CS1050 — Computer Organization and Digital Design</a:t>
            </a:r>
            <a:endParaRPr 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Nanoprocessor Design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 23</a:t>
            </a: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7054370"/>
              </p:ext>
            </p:extLst>
          </p:nvPr>
        </p:nvGraphicFramePr>
        <p:xfrm>
          <a:off x="2560320" y="1965960"/>
          <a:ext cx="4023360" cy="1920240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Name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Index No.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</a:rPr>
                        <a:t>Jayathilake P. I. K.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</a:rPr>
                        <a:t>240288D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</a:rPr>
                        <a:t>Jayawardana Y. G. L. 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</a:rPr>
                        <a:t>240294R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</a:rPr>
                        <a:t>Jayawardhana J. A. R. P.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</a:rPr>
                        <a:t>240297E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</a:rPr>
                        <a:t>Kalpashaka N. G. L. G.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</a:rPr>
                        <a:t>240312A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in Vivado · Tested on Basys 3 FPGA · Department of Computer Science and Engineering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3716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4124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11480" y="1188720"/>
            <a:ext cx="39319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develop a 4-bit nanoprocessor capable of executing arithmetic, logical, and control-flow instructions.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two processor versions: Optimized (resource-efficient) and Extended (feature-rich).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the instruction set from 4 instructions (12-bit, 2-bit opcode) to 11 instructions (14-bit, 4-bit opcode).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all components via VHDL simulation and deploy on the Basys 3 FPGA development board.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617720" y="822960"/>
            <a:ext cx="0" cy="3840480"/>
          </a:xfrm>
          <a:prstGeom prst="line">
            <a:avLst/>
          </a:prstGeom>
          <a:noFill/>
          <a:ln w="1016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754880" y="84124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143000"/>
            <a:ext cx="3931920" cy="621792"/>
          </a:xfrm>
          <a:prstGeom prst="rect">
            <a:avLst/>
          </a:prstGeom>
          <a:solidFill>
            <a:srgbClr val="EEF3FA"/>
          </a:solidFill>
          <a:ln w="9525">
            <a:solidFill>
              <a:srgbClr val="C5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864608" y="1207008"/>
            <a:ext cx="3712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12-bit ISA (Optimized)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864608" y="1463040"/>
            <a:ext cx="3712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instructions: MOVI, ADD, NEG, JZR — 2-bit opcode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1819656"/>
            <a:ext cx="3931920" cy="676656"/>
          </a:xfrm>
          <a:prstGeom prst="rect">
            <a:avLst/>
          </a:prstGeom>
          <a:solidFill>
            <a:srgbClr val="EEF3FA"/>
          </a:solidFill>
          <a:ln w="9525">
            <a:solidFill>
              <a:srgbClr val="C5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64608" y="1883664"/>
            <a:ext cx="3712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14-bit ISA (Extended)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64608" y="2139696"/>
            <a:ext cx="3712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instructions incl. SUB, AND, OR, XOR, NOT, CMP, CMPU, MOVI, ADD, NEG, JZR — 4-bit opcode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0" y="2549652"/>
            <a:ext cx="3931920" cy="621792"/>
          </a:xfrm>
          <a:prstGeom prst="rect">
            <a:avLst/>
          </a:prstGeom>
          <a:solidFill>
            <a:srgbClr val="EEF3FA"/>
          </a:solidFill>
          <a:ln w="9525">
            <a:solidFill>
              <a:srgbClr val="C5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64608" y="2613660"/>
            <a:ext cx="3712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 Deployment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64608" y="2869692"/>
            <a:ext cx="3712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and tested on Basys 3 (Artix-7 XC7A35T)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3226308"/>
            <a:ext cx="3931920" cy="621792"/>
          </a:xfrm>
          <a:prstGeom prst="rect">
            <a:avLst/>
          </a:prstGeom>
          <a:solidFill>
            <a:srgbClr val="EEF3FA"/>
          </a:solidFill>
          <a:ln w="9525">
            <a:solidFill>
              <a:srgbClr val="C5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64608" y="3290316"/>
            <a:ext cx="3712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Output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64608" y="3546348"/>
            <a:ext cx="3712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4-bit result displayed via seven-segment display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3902964"/>
            <a:ext cx="3931920" cy="621792"/>
          </a:xfrm>
          <a:prstGeom prst="rect">
            <a:avLst/>
          </a:prstGeom>
          <a:solidFill>
            <a:srgbClr val="EEF3FA"/>
          </a:solidFill>
          <a:ln w="9525">
            <a:solidFill>
              <a:srgbClr val="C5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64608" y="3966972"/>
            <a:ext cx="3712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Architecture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64608" y="4223004"/>
            <a:ext cx="3712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ROM, PC, Decoder, Register Bank, ALU, Flags — all as separate VHDL modules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9100" y="28194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Instruction Set Architecture — Optimized Version (12-bit)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107899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chemeClr val="accent5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Version</a:t>
            </a:r>
            <a:endParaRPr lang="en-US" sz="16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2468880" y="1088136"/>
            <a:ext cx="630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instructions · 2-bit opcode · 12-bit instruction word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5837623"/>
              </p:ext>
            </p:extLst>
          </p:nvPr>
        </p:nvGraphicFramePr>
        <p:xfrm>
          <a:off x="411480" y="1508760"/>
          <a:ext cx="8321040" cy="3291840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Instruction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Opcode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Format (12-bit)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</a:rPr>
                        <a:t>MOVI  R, 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</a:rPr>
                        <a:t>Move immediate d → R  (R ∈ [0,7], d ∈ [0,15])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</a:rPr>
                        <a:t>10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</a:rPr>
                        <a:t>1 0  R R R  0 0 0  d d d 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</a:rPr>
                        <a:t>ADD  Ra, Rb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</a:rPr>
                        <a:t>Ra ← Ra + Rb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</a:rPr>
                        <a:t>00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</a:rPr>
                        <a:t>0 0  Ra Ra Ra  Rb Rb Rb  0 0 0 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</a:rPr>
                        <a:t>NEG  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</a:rPr>
                        <a:t>R ← −R  (2's complement)  (R ∈ [0,7])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</a:rPr>
                        <a:t>01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</a:rPr>
                        <a:t>0 1  R R R  0 0 0  0 0 0 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</a:rPr>
                        <a:t>JZR  R, 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</a:rPr>
                        <a:t>If R=0 → PC←d; else PC←PC+1  (d ∈ [0,7])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</a:rPr>
                        <a:t>11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</a:rPr>
                        <a:t>1 1  R R R  0 0 0  0 d d 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3716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Instruction Set Architecture — Extended Version </a:t>
            </a:r>
          </a:p>
          <a:p>
            <a:pPr marL="0" indent="0" algn="l">
              <a:buNone/>
            </a:pPr>
            <a:r>
              <a:rPr lang="en-US" sz="2600" b="1" dirty="0">
                <a:solidFill>
                  <a:srgbClr val="1A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(14-bit)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82296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5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Version</a:t>
            </a:r>
            <a:endParaRPr lang="en-US" sz="16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2468880" y="841248"/>
            <a:ext cx="630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instructions · 4-bit opcode · 14-bit instruction word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4044495"/>
              </p:ext>
            </p:extLst>
          </p:nvPr>
        </p:nvGraphicFramePr>
        <p:xfrm>
          <a:off x="411480" y="1170432"/>
          <a:ext cx="8321040" cy="39502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85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62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38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92424">
                  <a:extLst>
                    <a:ext uri="{9D8B030D-6E8A-4147-A177-3AD203B41FA5}">
                      <a16:colId xmlns:a16="http://schemas.microsoft.com/office/drawing/2014/main" val="15385102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Instruction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Opcode (4-bit)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Format (14-bit)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MOVI  R, 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Move immediate d → 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1000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050" dirty="0"/>
                        <a:t>1 0 0 0 R R R 0 0 0 d d d d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NEG  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R ← −R (2's complement)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1001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050" dirty="0"/>
                        <a:t>1 0 0 1 R R R 0 0 0 0 0 0 0 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JZR  R, 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If R=0 → PC←d; else PC←PC+1 (d ∈ [−8,7])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1010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050" dirty="0"/>
                        <a:t>1 0 1 0 R R R 0 0 0 d d d d 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ADD  Ra, Rb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Ra ← Ra + Rb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0000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/>
                        <a:t>0 0 0 0 Ra </a:t>
                      </a:r>
                      <a:r>
                        <a:rPr lang="en-US" sz="1050" dirty="0" err="1"/>
                        <a:t>Ra</a:t>
                      </a:r>
                      <a:r>
                        <a:rPr lang="en-US" sz="1050" dirty="0"/>
                        <a:t> </a:t>
                      </a:r>
                      <a:r>
                        <a:rPr lang="en-US" sz="1050" dirty="0" err="1"/>
                        <a:t>Ra</a:t>
                      </a:r>
                      <a:r>
                        <a:rPr lang="en-US" sz="1050" dirty="0"/>
                        <a:t> Rb </a:t>
                      </a:r>
                      <a:r>
                        <a:rPr lang="en-US" sz="1050" dirty="0" err="1"/>
                        <a:t>Rb</a:t>
                      </a:r>
                      <a:r>
                        <a:rPr lang="en-US" sz="1050" dirty="0"/>
                        <a:t> </a:t>
                      </a:r>
                      <a:r>
                        <a:rPr lang="en-US" sz="1050" dirty="0" err="1"/>
                        <a:t>Rb</a:t>
                      </a:r>
                      <a:r>
                        <a:rPr lang="en-US" sz="1050" dirty="0"/>
                        <a:t> 0 0 0 0 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SUB  Ra, Rb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Ra ← Ra − Rb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0001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/>
                        <a:t>0 0 0 1 Ra </a:t>
                      </a:r>
                      <a:r>
                        <a:rPr lang="en-US" sz="1050" dirty="0" err="1"/>
                        <a:t>Ra</a:t>
                      </a:r>
                      <a:r>
                        <a:rPr lang="en-US" sz="1050" dirty="0"/>
                        <a:t> </a:t>
                      </a:r>
                      <a:r>
                        <a:rPr lang="en-US" sz="1050" dirty="0" err="1"/>
                        <a:t>Ra</a:t>
                      </a:r>
                      <a:r>
                        <a:rPr lang="en-US" sz="1050" dirty="0"/>
                        <a:t> Rb </a:t>
                      </a:r>
                      <a:r>
                        <a:rPr lang="en-US" sz="1050" dirty="0" err="1"/>
                        <a:t>Rb</a:t>
                      </a:r>
                      <a:r>
                        <a:rPr lang="en-US" sz="1050" dirty="0"/>
                        <a:t> </a:t>
                      </a:r>
                      <a:r>
                        <a:rPr lang="en-US" sz="1050" dirty="0" err="1"/>
                        <a:t>Rb</a:t>
                      </a:r>
                      <a:r>
                        <a:rPr lang="en-US" sz="1050" dirty="0"/>
                        <a:t> 0 0 0 0 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CMPU Ra, Rb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Unsigned comparison; updates GT/EQ/LT flags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0010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/>
                        <a:t>0 0 1 0 Ra </a:t>
                      </a:r>
                      <a:r>
                        <a:rPr lang="en-US" sz="1050" dirty="0" err="1"/>
                        <a:t>Ra</a:t>
                      </a:r>
                      <a:r>
                        <a:rPr lang="en-US" sz="1050" dirty="0"/>
                        <a:t> </a:t>
                      </a:r>
                      <a:r>
                        <a:rPr lang="en-US" sz="1050" dirty="0" err="1"/>
                        <a:t>Ra</a:t>
                      </a:r>
                      <a:r>
                        <a:rPr lang="en-US" sz="1050" dirty="0"/>
                        <a:t> Rb </a:t>
                      </a:r>
                      <a:r>
                        <a:rPr lang="en-US" sz="1050" dirty="0" err="1"/>
                        <a:t>Rb</a:t>
                      </a:r>
                      <a:r>
                        <a:rPr lang="en-US" sz="1050" dirty="0"/>
                        <a:t> </a:t>
                      </a:r>
                      <a:r>
                        <a:rPr lang="en-US" sz="1050" dirty="0" err="1"/>
                        <a:t>Rb</a:t>
                      </a:r>
                      <a:r>
                        <a:rPr lang="en-US" sz="1050" dirty="0"/>
                        <a:t> 0 0 0 0 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CMP  Ra, Rb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Signed comparison; updates GT/EQ/LT flags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0011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/>
                        <a:t>0 0 1 1 Ra </a:t>
                      </a:r>
                      <a:r>
                        <a:rPr lang="en-US" sz="1050" dirty="0" err="1"/>
                        <a:t>Ra</a:t>
                      </a:r>
                      <a:r>
                        <a:rPr lang="en-US" sz="1050" dirty="0"/>
                        <a:t> </a:t>
                      </a:r>
                      <a:r>
                        <a:rPr lang="en-US" sz="1050" dirty="0" err="1"/>
                        <a:t>Ra</a:t>
                      </a:r>
                      <a:r>
                        <a:rPr lang="en-US" sz="1050" dirty="0"/>
                        <a:t> Rb </a:t>
                      </a:r>
                      <a:r>
                        <a:rPr lang="en-US" sz="1050" dirty="0" err="1"/>
                        <a:t>Rb</a:t>
                      </a:r>
                      <a:r>
                        <a:rPr lang="en-US" sz="1050" dirty="0"/>
                        <a:t> </a:t>
                      </a:r>
                      <a:r>
                        <a:rPr lang="en-US" sz="1050" dirty="0" err="1"/>
                        <a:t>Rb</a:t>
                      </a:r>
                      <a:r>
                        <a:rPr lang="en-US" sz="1050" dirty="0"/>
                        <a:t> 0 0 0 0 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OR   Ra, Rb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Ra ← Ra ∨ Rb (bitwise OR)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0100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/>
                        <a:t>0 1 0 0 Ra </a:t>
                      </a:r>
                      <a:r>
                        <a:rPr lang="en-US" sz="1050" dirty="0" err="1"/>
                        <a:t>Ra</a:t>
                      </a:r>
                      <a:r>
                        <a:rPr lang="en-US" sz="1050" dirty="0"/>
                        <a:t> </a:t>
                      </a:r>
                      <a:r>
                        <a:rPr lang="en-US" sz="1050" dirty="0" err="1"/>
                        <a:t>Ra</a:t>
                      </a:r>
                      <a:r>
                        <a:rPr lang="en-US" sz="1050" dirty="0"/>
                        <a:t> Rb </a:t>
                      </a:r>
                      <a:r>
                        <a:rPr lang="en-US" sz="1050" dirty="0" err="1"/>
                        <a:t>Rb</a:t>
                      </a:r>
                      <a:r>
                        <a:rPr lang="en-US" sz="1050" dirty="0"/>
                        <a:t> </a:t>
                      </a:r>
                      <a:r>
                        <a:rPr lang="en-US" sz="1050" dirty="0" err="1"/>
                        <a:t>Rb</a:t>
                      </a:r>
                      <a:r>
                        <a:rPr lang="en-US" sz="1050" dirty="0"/>
                        <a:t> 0 0 0 0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AND  Ra, Rb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Ra ← Ra ∧ Rb (bitwise AND)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0101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/>
                        <a:t>0 1 0 1 Ra </a:t>
                      </a:r>
                      <a:r>
                        <a:rPr lang="en-US" sz="1050" dirty="0" err="1"/>
                        <a:t>Ra</a:t>
                      </a:r>
                      <a:r>
                        <a:rPr lang="en-US" sz="1050" dirty="0"/>
                        <a:t> </a:t>
                      </a:r>
                      <a:r>
                        <a:rPr lang="en-US" sz="1050" dirty="0" err="1"/>
                        <a:t>Ra</a:t>
                      </a:r>
                      <a:r>
                        <a:rPr lang="en-US" sz="1050" dirty="0"/>
                        <a:t> Rb </a:t>
                      </a:r>
                      <a:r>
                        <a:rPr lang="en-US" sz="1050" dirty="0" err="1"/>
                        <a:t>Rb</a:t>
                      </a:r>
                      <a:r>
                        <a:rPr lang="en-US" sz="1050" dirty="0"/>
                        <a:t> </a:t>
                      </a:r>
                      <a:r>
                        <a:rPr lang="en-US" sz="1050" dirty="0" err="1"/>
                        <a:t>Rb</a:t>
                      </a:r>
                      <a:r>
                        <a:rPr lang="en-US" sz="1050" dirty="0"/>
                        <a:t> 0 0 0 0 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XOR  Ra, Rb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Ra ← Ra ⊕ Rb (bitwise XOR)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0110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/>
                        <a:t>0 1 1 0 Ra </a:t>
                      </a:r>
                      <a:r>
                        <a:rPr lang="en-US" sz="1050" dirty="0" err="1"/>
                        <a:t>Ra</a:t>
                      </a:r>
                      <a:r>
                        <a:rPr lang="en-US" sz="1050" dirty="0"/>
                        <a:t> </a:t>
                      </a:r>
                      <a:r>
                        <a:rPr lang="en-US" sz="1050" dirty="0" err="1"/>
                        <a:t>Ra</a:t>
                      </a:r>
                      <a:r>
                        <a:rPr lang="en-US" sz="1050" dirty="0"/>
                        <a:t> Rb </a:t>
                      </a:r>
                      <a:r>
                        <a:rPr lang="en-US" sz="1050" dirty="0" err="1"/>
                        <a:t>Rb</a:t>
                      </a:r>
                      <a:r>
                        <a:rPr lang="en-US" sz="1050" dirty="0"/>
                        <a:t> </a:t>
                      </a:r>
                      <a:r>
                        <a:rPr lang="en-US" sz="1050" dirty="0" err="1"/>
                        <a:t>Rb</a:t>
                      </a:r>
                      <a:r>
                        <a:rPr lang="en-US" sz="1050" dirty="0"/>
                        <a:t> 0 0 0 0 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NOT  Ra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Ra ← ~Ra (bitwise complement)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0111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/>
                        <a:t>0 1 1 1 Ra </a:t>
                      </a:r>
                      <a:r>
                        <a:rPr lang="en-US" sz="1050" dirty="0" err="1"/>
                        <a:t>Ra</a:t>
                      </a:r>
                      <a:r>
                        <a:rPr lang="en-US" sz="1050" dirty="0"/>
                        <a:t> </a:t>
                      </a:r>
                      <a:r>
                        <a:rPr lang="en-US" sz="1050" dirty="0" err="1"/>
                        <a:t>Ra</a:t>
                      </a:r>
                      <a:r>
                        <a:rPr lang="en-US" sz="1050" dirty="0"/>
                        <a:t> Rb </a:t>
                      </a:r>
                      <a:r>
                        <a:rPr lang="en-US" sz="1050" dirty="0" err="1"/>
                        <a:t>Rb</a:t>
                      </a:r>
                      <a:r>
                        <a:rPr lang="en-US" sz="1050" dirty="0"/>
                        <a:t> </a:t>
                      </a:r>
                      <a:r>
                        <a:rPr lang="en-US" sz="1050" dirty="0" err="1"/>
                        <a:t>Rb</a:t>
                      </a:r>
                      <a:r>
                        <a:rPr lang="en-US" sz="1050" dirty="0"/>
                        <a:t> 0 0 0 0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3716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Opcode Encoding — Original vs. Extended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4124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Version — 2-bit Opcode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0930884"/>
              </p:ext>
            </p:extLst>
          </p:nvPr>
        </p:nvGraphicFramePr>
        <p:xfrm>
          <a:off x="411480" y="1188720"/>
          <a:ext cx="3931920" cy="2011680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Instruction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Opcode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ADD / SUB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NEG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MOVI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JZR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11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846320" y="84124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Version — 4-bit Opcode</a:t>
            </a:r>
            <a:endParaRPr lang="en-US" sz="14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9983829"/>
              </p:ext>
            </p:extLst>
          </p:nvPr>
        </p:nvGraphicFramePr>
        <p:xfrm>
          <a:off x="4846320" y="1188720"/>
          <a:ext cx="3840480" cy="3621024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Instruction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Opcode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ADD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0000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SUB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0001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CMPU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0010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CMP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0011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0100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AND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0101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XOR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0110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NOT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0111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MOVI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1000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NEG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1001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JZR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1010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BD8A45-5E51-4222-1EFE-CF3497A231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985C630-3419-221F-14C0-1DDE021609C3}"/>
              </a:ext>
            </a:extLst>
          </p:cNvPr>
          <p:cNvSpPr/>
          <p:nvPr/>
        </p:nvSpPr>
        <p:spPr>
          <a:xfrm>
            <a:off x="411480" y="13716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Opcode Encoding — Original vs. Extended</a:t>
            </a:r>
            <a:endParaRPr lang="en-US" sz="2600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69DBC4CE-01C2-1F9E-A486-14BA0C939528}"/>
              </a:ext>
            </a:extLst>
          </p:cNvPr>
          <p:cNvSpPr/>
          <p:nvPr/>
        </p:nvSpPr>
        <p:spPr>
          <a:xfrm>
            <a:off x="411480" y="856488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Architectural Differences</a:t>
            </a:r>
            <a:endParaRPr lang="en-US" sz="1400" dirty="0"/>
          </a:p>
        </p:txBody>
      </p:sp>
      <p:graphicFrame>
        <p:nvGraphicFramePr>
          <p:cNvPr id="16" name="Table 2">
            <a:extLst>
              <a:ext uri="{FF2B5EF4-FFF2-40B4-BE49-F238E27FC236}">
                <a16:creationId xmlns:a16="http://schemas.microsoft.com/office/drawing/2014/main" id="{F1E4A5B8-470E-8324-E409-24C8982126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5583547"/>
              </p:ext>
            </p:extLst>
          </p:nvPr>
        </p:nvGraphicFramePr>
        <p:xfrm>
          <a:off x="411480" y="1277112"/>
          <a:ext cx="8321040" cy="2011680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Optimized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Extended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Instruction Width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12 bits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14 bits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Opcode Width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2 bits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4 bits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No. of Instructions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11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ALU Operations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ADD / NEG only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ADD, SUB, AND, OR, XOR, NOT, CMP, CMPU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Output Flags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Zero, Overflow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Zero, Overflow, GT, EQ, LT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959270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3716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>
                <a:solidFill>
                  <a:srgbClr val="1A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 Overview</a:t>
            </a:r>
            <a:endParaRPr lang="en-US" sz="2600" dirty="0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E950AC0C-98BE-8C2E-6701-6DD59959D1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1061" y="829180"/>
            <a:ext cx="3561878" cy="431431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3716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Module — Optimized Version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82296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11480" y="1286712"/>
            <a:ext cx="4114800" cy="1920240"/>
          </a:xfrm>
          <a:prstGeom prst="rect">
            <a:avLst/>
          </a:prstGeom>
          <a:solidFill>
            <a:srgbClr val="F4F4F4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1314144"/>
            <a:ext cx="384048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 Nanoprocessor is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Port 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Clk_100MHz : in  STD_LOGIC;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reset      : in  std_logic;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result     : out std_logic_vector(3 downto 0);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zero       : out std_logic;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overflow   : out std_logic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 Nanoprocessor;</a:t>
            </a:r>
            <a:endParaRPr lang="en-US" sz="950" dirty="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2DDBE8B6-C9A2-08E4-8439-A654FEE25D2D}"/>
              </a:ext>
            </a:extLst>
          </p:cNvPr>
          <p:cNvGrpSpPr/>
          <p:nvPr/>
        </p:nvGrpSpPr>
        <p:grpSpPr>
          <a:xfrm>
            <a:off x="411480" y="905256"/>
            <a:ext cx="8275320" cy="347472"/>
            <a:chOff x="411480" y="1188720"/>
            <a:chExt cx="8275320" cy="347472"/>
          </a:xfrm>
        </p:grpSpPr>
        <p:sp>
          <p:nvSpPr>
            <p:cNvPr id="6" name="Text 4"/>
            <p:cNvSpPr/>
            <p:nvPr/>
          </p:nvSpPr>
          <p:spPr>
            <a:xfrm>
              <a:off x="411480" y="1188720"/>
              <a:ext cx="411480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chemeClr val="accent5">
                      <a:lumMod val="50000"/>
                    </a:schemeClr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Entity</a:t>
              </a:r>
              <a:r>
                <a:rPr lang="en-US" sz="1400" b="1" dirty="0">
                  <a:solidFill>
                    <a:srgbClr val="1F4E7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400" b="1" dirty="0">
                  <a:solidFill>
                    <a:schemeClr val="accent5">
                      <a:lumMod val="50000"/>
                    </a:schemeClr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Interface</a:t>
              </a:r>
              <a:endParaRPr lang="en-US" sz="1400" dirty="0">
                <a:solidFill>
                  <a:schemeClr val="accent5">
                    <a:lumMod val="50000"/>
                  </a:schemeClr>
                </a:solidFill>
              </a:endParaRPr>
            </a:p>
          </p:txBody>
        </p:sp>
        <p:sp>
          <p:nvSpPr>
            <p:cNvPr id="9" name="Text 7"/>
            <p:cNvSpPr/>
            <p:nvPr/>
          </p:nvSpPr>
          <p:spPr>
            <a:xfrm>
              <a:off x="4754880" y="1188720"/>
              <a:ext cx="393192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F4E7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Sub-Modules Instantiated</a:t>
              </a:r>
              <a:endParaRPr lang="en-US" sz="1400" dirty="0"/>
            </a:p>
          </p:txBody>
        </p:sp>
      </p:grpSp>
      <p:sp>
        <p:nvSpPr>
          <p:cNvPr id="10" name="Shape 8"/>
          <p:cNvSpPr/>
          <p:nvPr/>
        </p:nvSpPr>
        <p:spPr>
          <a:xfrm>
            <a:off x="4754880" y="1286712"/>
            <a:ext cx="3931920" cy="448056"/>
          </a:xfrm>
          <a:prstGeom prst="rect">
            <a:avLst/>
          </a:prstGeom>
          <a:solidFill>
            <a:srgbClr val="EEF3FA"/>
          </a:solidFill>
          <a:ln w="9525">
            <a:solidFill>
              <a:srgbClr val="C5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64608" y="1289760"/>
            <a:ext cx="3712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program_rom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864608" y="1545792"/>
            <a:ext cx="3712464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8×12-bit ROM; addressed by 3-bit PC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54880" y="1762200"/>
            <a:ext cx="3931920" cy="448056"/>
          </a:xfrm>
          <a:prstGeom prst="rect">
            <a:avLst/>
          </a:prstGeom>
          <a:solidFill>
            <a:srgbClr val="EEF3FA"/>
          </a:solidFill>
          <a:ln w="9525">
            <a:solidFill>
              <a:srgbClr val="C5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64608" y="1765248"/>
            <a:ext cx="3712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instruction_decoder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864608" y="2021280"/>
            <a:ext cx="3712464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Decodes 12-bit instruction; issues control signals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54880" y="2237688"/>
            <a:ext cx="3931920" cy="448056"/>
          </a:xfrm>
          <a:prstGeom prst="rect">
            <a:avLst/>
          </a:prstGeom>
          <a:solidFill>
            <a:srgbClr val="EEF3FA"/>
          </a:solidFill>
          <a:ln w="9525">
            <a:solidFill>
              <a:srgbClr val="C5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64608" y="2240736"/>
            <a:ext cx="3712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ADD_SUB_4bit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64608" y="2496768"/>
            <a:ext cx="3712464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4-bit ALU with ADD/NEG; produces zero &amp; overflow flags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54880" y="2713176"/>
            <a:ext cx="3931920" cy="448056"/>
          </a:xfrm>
          <a:prstGeom prst="rect">
            <a:avLst/>
          </a:prstGeom>
          <a:solidFill>
            <a:srgbClr val="EEF3FA"/>
          </a:solidFill>
          <a:ln w="9525">
            <a:solidFill>
              <a:srgbClr val="C5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864608" y="2716224"/>
            <a:ext cx="3712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register_bank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64608" y="2972256"/>
            <a:ext cx="3712464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4-bit registers (R0–R7) with sync write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754880" y="3188664"/>
            <a:ext cx="3931920" cy="448056"/>
          </a:xfrm>
          <a:prstGeom prst="rect">
            <a:avLst/>
          </a:prstGeom>
          <a:solidFill>
            <a:srgbClr val="EEF3FA"/>
          </a:solidFill>
          <a:ln w="9525">
            <a:solidFill>
              <a:srgbClr val="C5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864608" y="3191712"/>
            <a:ext cx="3712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864608" y="3447744"/>
            <a:ext cx="3712464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Registers zero/overflow flags on clock edge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54880" y="3664152"/>
            <a:ext cx="3931920" cy="448056"/>
          </a:xfrm>
          <a:prstGeom prst="rect">
            <a:avLst/>
          </a:prstGeom>
          <a:solidFill>
            <a:srgbClr val="EEF3FA"/>
          </a:solidFill>
          <a:ln w="9525">
            <a:solidFill>
              <a:srgbClr val="C5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64608" y="3667200"/>
            <a:ext cx="3712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slow_clock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864608" y="3923232"/>
            <a:ext cx="3712464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Divides 100 MHz → ~0.5 Hz for visible stepping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754880" y="4139640"/>
            <a:ext cx="3931920" cy="448056"/>
          </a:xfrm>
          <a:prstGeom prst="rect">
            <a:avLst/>
          </a:prstGeom>
          <a:solidFill>
            <a:srgbClr val="EEF3FA"/>
          </a:solidFill>
          <a:ln w="9525">
            <a:solidFill>
              <a:srgbClr val="C5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864608" y="4142688"/>
            <a:ext cx="3712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mux2_4bit (×2)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864608" y="4398720"/>
            <a:ext cx="3712464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Writeback selector (ALU vs immediate); PC mux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11480" y="327792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Flow Summary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11480" y="3641088"/>
            <a:ext cx="41148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→ ROM → 12-bit instruction word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 issues reg_write_en, alu_sub, wb_sel_imm, pc_load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 output or immediate data written back to register bank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flag → decoder for JZR conditional branch</a:t>
            </a:r>
            <a:endParaRPr lang="en-US" sz="1050" dirty="0"/>
          </a:p>
        </p:txBody>
      </p:sp>
      <p:sp>
        <p:nvSpPr>
          <p:cNvPr id="35" name="Shape 26">
            <a:extLst>
              <a:ext uri="{FF2B5EF4-FFF2-40B4-BE49-F238E27FC236}">
                <a16:creationId xmlns:a16="http://schemas.microsoft.com/office/drawing/2014/main" id="{A9B996C9-FC85-FDB3-68C2-70044B87CFD5}"/>
              </a:ext>
            </a:extLst>
          </p:cNvPr>
          <p:cNvSpPr/>
          <p:nvPr/>
        </p:nvSpPr>
        <p:spPr>
          <a:xfrm>
            <a:off x="4754880" y="4619700"/>
            <a:ext cx="3931920" cy="448056"/>
          </a:xfrm>
          <a:prstGeom prst="rect">
            <a:avLst/>
          </a:prstGeom>
          <a:solidFill>
            <a:srgbClr val="EEF3FA"/>
          </a:solidFill>
          <a:ln w="9525">
            <a:solidFill>
              <a:srgbClr val="C5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27">
            <a:extLst>
              <a:ext uri="{FF2B5EF4-FFF2-40B4-BE49-F238E27FC236}">
                <a16:creationId xmlns:a16="http://schemas.microsoft.com/office/drawing/2014/main" id="{14C1AB7D-FAA0-08F5-27D5-EFBE103BEA01}"/>
              </a:ext>
            </a:extLst>
          </p:cNvPr>
          <p:cNvSpPr/>
          <p:nvPr/>
        </p:nvSpPr>
        <p:spPr>
          <a:xfrm>
            <a:off x="4864608" y="4622748"/>
            <a:ext cx="3712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mux8_4bit</a:t>
            </a:r>
            <a:endParaRPr lang="en-US" sz="1050" dirty="0"/>
          </a:p>
        </p:txBody>
      </p:sp>
      <p:sp>
        <p:nvSpPr>
          <p:cNvPr id="37" name="Text 28">
            <a:extLst>
              <a:ext uri="{FF2B5EF4-FFF2-40B4-BE49-F238E27FC236}">
                <a16:creationId xmlns:a16="http://schemas.microsoft.com/office/drawing/2014/main" id="{FFF09B9D-4078-9FC5-C6CB-B4584D4F7B33}"/>
              </a:ext>
            </a:extLst>
          </p:cNvPr>
          <p:cNvSpPr/>
          <p:nvPr/>
        </p:nvSpPr>
        <p:spPr>
          <a:xfrm>
            <a:off x="4864608" y="4878780"/>
            <a:ext cx="3712464" cy="179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Selects one of eight 4-bit inputs based on 3-bit select line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3716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Module — Extended Version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0312480"/>
              </p:ext>
            </p:extLst>
          </p:nvPr>
        </p:nvGraphicFramePr>
        <p:xfrm>
          <a:off x="411480" y="1335024"/>
          <a:ext cx="4206240" cy="3154680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Optimized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Extended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Instruction width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12-bit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14-bit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Opcode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2-bit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4-bit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ALU top module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None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top_alu (new)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Comparator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Not present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Used inside top_alu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Logic unit (binOp)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Not present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AND/OR/XOR/NOT support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Flags out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zero, overflow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zero, overflow,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GT, EQ, LT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Flag logic location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ADD_SUB_4bit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top_alu mux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pSp>
        <p:nvGrpSpPr>
          <p:cNvPr id="27" name="Group 26">
            <a:extLst>
              <a:ext uri="{FF2B5EF4-FFF2-40B4-BE49-F238E27FC236}">
                <a16:creationId xmlns:a16="http://schemas.microsoft.com/office/drawing/2014/main" id="{96AF722C-1C2A-B203-AF5F-ACB92C2CD2FE}"/>
              </a:ext>
            </a:extLst>
          </p:cNvPr>
          <p:cNvGrpSpPr/>
          <p:nvPr/>
        </p:nvGrpSpPr>
        <p:grpSpPr>
          <a:xfrm>
            <a:off x="411480" y="885328"/>
            <a:ext cx="8275320" cy="347472"/>
            <a:chOff x="411480" y="1188720"/>
            <a:chExt cx="8275320" cy="347472"/>
          </a:xfrm>
        </p:grpSpPr>
        <p:sp>
          <p:nvSpPr>
            <p:cNvPr id="6" name="Text 4"/>
            <p:cNvSpPr/>
            <p:nvPr/>
          </p:nvSpPr>
          <p:spPr>
            <a:xfrm>
              <a:off x="411480" y="1188720"/>
              <a:ext cx="411480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F4E7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Key Differences from Optimized</a:t>
              </a:r>
              <a:endParaRPr lang="en-US" sz="1400" dirty="0"/>
            </a:p>
          </p:txBody>
        </p:sp>
        <p:sp>
          <p:nvSpPr>
            <p:cNvPr id="8" name="Text 5"/>
            <p:cNvSpPr/>
            <p:nvPr/>
          </p:nvSpPr>
          <p:spPr>
            <a:xfrm>
              <a:off x="4754880" y="1188720"/>
              <a:ext cx="393192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F4E7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Extended Entity Interface</a:t>
              </a:r>
              <a:endParaRPr lang="en-US" sz="1400" dirty="0"/>
            </a:p>
          </p:txBody>
        </p:sp>
      </p:grpSp>
      <p:sp>
        <p:nvSpPr>
          <p:cNvPr id="7" name="Shape 6"/>
          <p:cNvSpPr/>
          <p:nvPr/>
        </p:nvSpPr>
        <p:spPr>
          <a:xfrm>
            <a:off x="4754880" y="1335024"/>
            <a:ext cx="3931920" cy="2251456"/>
          </a:xfrm>
          <a:prstGeom prst="rect">
            <a:avLst/>
          </a:prstGeom>
          <a:solidFill>
            <a:srgbClr val="F4F4F4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892040" y="1362456"/>
            <a:ext cx="37033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 </a:t>
            </a:r>
            <a:r>
              <a:rPr lang="en-US" sz="900" dirty="0" err="1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Nanoprocessor</a:t>
            </a:r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Port 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Clk_100MHz : in  STD_LOGIC;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reset      : in  </a:t>
            </a:r>
            <a:r>
              <a:rPr lang="en-US" sz="900" dirty="0" err="1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std_logic</a:t>
            </a:r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</a:p>
          <a:p>
            <a:r>
              <a:rPr lang="en-US" sz="900" dirty="0">
                <a:solidFill>
                  <a:srgbClr val="212121"/>
                </a:solidFill>
                <a:latin typeface="Courier New" pitchFamily="34" charset="0"/>
                <a:cs typeface="Courier New" pitchFamily="34" charset="-120"/>
              </a:rPr>
              <a:t>    </a:t>
            </a:r>
            <a:r>
              <a:rPr lang="fr-FR" sz="900" dirty="0" err="1">
                <a:solidFill>
                  <a:srgbClr val="212121"/>
                </a:solidFill>
                <a:latin typeface="Courier New" pitchFamily="34" charset="0"/>
                <a:cs typeface="Courier New" pitchFamily="34" charset="-120"/>
              </a:rPr>
              <a:t>mode_sel</a:t>
            </a:r>
            <a:r>
              <a:rPr lang="fr-FR" sz="900" dirty="0">
                <a:solidFill>
                  <a:srgbClr val="212121"/>
                </a:solidFill>
                <a:latin typeface="Courier New" pitchFamily="34" charset="0"/>
                <a:cs typeface="Courier New" pitchFamily="34" charset="-120"/>
              </a:rPr>
              <a:t>   : in  </a:t>
            </a:r>
            <a:r>
              <a:rPr lang="en-US" sz="900" dirty="0" err="1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std_logic</a:t>
            </a:r>
            <a:r>
              <a:rPr lang="fr-FR" sz="900" dirty="0">
                <a:solidFill>
                  <a:srgbClr val="212121"/>
                </a:solidFill>
                <a:latin typeface="Courier New" pitchFamily="34" charset="0"/>
                <a:cs typeface="Courier New" pitchFamily="34" charset="-120"/>
              </a:rPr>
              <a:t>;</a:t>
            </a:r>
            <a:endParaRPr lang="en-US" sz="900" dirty="0">
              <a:solidFill>
                <a:srgbClr val="212121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r>
              <a:rPr lang="en-US" sz="900" dirty="0">
                <a:solidFill>
                  <a:srgbClr val="212121"/>
                </a:solidFill>
                <a:latin typeface="Courier New" pitchFamily="34" charset="0"/>
                <a:cs typeface="Courier New" pitchFamily="34" charset="-120"/>
              </a:rPr>
              <a:t>    </a:t>
            </a:r>
            <a:r>
              <a:rPr lang="en-US" sz="900" dirty="0" err="1">
                <a:solidFill>
                  <a:srgbClr val="212121"/>
                </a:solidFill>
                <a:latin typeface="Courier New" pitchFamily="34" charset="0"/>
                <a:cs typeface="Courier New" pitchFamily="34" charset="-120"/>
              </a:rPr>
              <a:t>sw_inst</a:t>
            </a:r>
            <a:r>
              <a:rPr lang="en-US" sz="900" dirty="0">
                <a:solidFill>
                  <a:srgbClr val="212121"/>
                </a:solidFill>
                <a:latin typeface="Courier New" pitchFamily="34" charset="0"/>
                <a:cs typeface="Courier New" pitchFamily="34" charset="-120"/>
              </a:rPr>
              <a:t>    : in  </a:t>
            </a:r>
            <a:r>
              <a:rPr lang="en-US" sz="900" dirty="0" err="1">
                <a:solidFill>
                  <a:srgbClr val="212121"/>
                </a:solidFill>
                <a:latin typeface="Courier New" pitchFamily="34" charset="0"/>
                <a:cs typeface="Courier New" pitchFamily="34" charset="-120"/>
              </a:rPr>
              <a:t>std_logic_vector</a:t>
            </a:r>
            <a:r>
              <a:rPr lang="en-US" sz="900" dirty="0">
                <a:solidFill>
                  <a:srgbClr val="212121"/>
                </a:solidFill>
                <a:latin typeface="Courier New" pitchFamily="34" charset="0"/>
                <a:cs typeface="Courier New" pitchFamily="34" charset="-120"/>
              </a:rPr>
              <a:t>(13 </a:t>
            </a:r>
            <a:r>
              <a:rPr lang="en-US" sz="900" dirty="0" err="1">
                <a:solidFill>
                  <a:srgbClr val="212121"/>
                </a:solidFill>
                <a:latin typeface="Courier New" pitchFamily="34" charset="0"/>
                <a:cs typeface="Courier New" pitchFamily="34" charset="-120"/>
              </a:rPr>
              <a:t>downto</a:t>
            </a:r>
            <a:r>
              <a:rPr lang="en-US" sz="900" dirty="0">
                <a:solidFill>
                  <a:srgbClr val="212121"/>
                </a:solidFill>
                <a:latin typeface="Courier New" pitchFamily="34" charset="0"/>
                <a:cs typeface="Courier New" pitchFamily="34" charset="-120"/>
              </a:rPr>
              <a:t> 0);</a:t>
            </a:r>
          </a:p>
          <a:p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00" dirty="0" err="1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btn_step</a:t>
            </a:r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: in  </a:t>
            </a:r>
            <a:r>
              <a:rPr lang="en-US" sz="900" dirty="0" err="1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std_logic</a:t>
            </a:r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00" dirty="0">
              <a:solidFill>
                <a:srgbClr val="212121"/>
              </a:solidFill>
              <a:latin typeface="Courier New" pitchFamily="34" charset="0"/>
              <a:cs typeface="Courier New" pitchFamily="34" charset="-120"/>
            </a:endParaRPr>
          </a:p>
          <a:p>
            <a:r>
              <a:rPr lang="en-US" sz="900" dirty="0">
                <a:solidFill>
                  <a:srgbClr val="212121"/>
                </a:solidFill>
                <a:latin typeface="Courier New" pitchFamily="34" charset="0"/>
                <a:cs typeface="Courier New" pitchFamily="34" charset="-120"/>
              </a:rPr>
              <a:t>    </a:t>
            </a:r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    : out </a:t>
            </a:r>
            <a:r>
              <a:rPr lang="en-US" sz="900" dirty="0" err="1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std_logic_vector</a:t>
            </a:r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(3 </a:t>
            </a:r>
            <a:r>
              <a:rPr lang="en-US" sz="900" dirty="0" err="1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downto</a:t>
            </a:r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0);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zero       : out </a:t>
            </a:r>
            <a:r>
              <a:rPr lang="en-US" sz="900" dirty="0" err="1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std_logic</a:t>
            </a:r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overflow   : out </a:t>
            </a:r>
            <a:r>
              <a:rPr lang="en-US" sz="900" dirty="0" err="1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std_logic</a:t>
            </a:r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greater    : out </a:t>
            </a:r>
            <a:r>
              <a:rPr lang="en-US" sz="900" dirty="0" err="1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std_logic</a:t>
            </a:r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equal      : out </a:t>
            </a:r>
            <a:r>
              <a:rPr lang="en-US" sz="900" dirty="0" err="1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std_logic</a:t>
            </a:r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lower      : out </a:t>
            </a:r>
            <a:r>
              <a:rPr lang="en-US" sz="900" dirty="0" err="1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std_logic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 </a:t>
            </a:r>
            <a:r>
              <a:rPr lang="en-US" sz="900" dirty="0" err="1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Nanoprocessor</a:t>
            </a:r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96A4D6-C2B8-A304-4BF4-911714AAA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5A53F5B-C116-D77A-1251-F971893AB398}"/>
              </a:ext>
            </a:extLst>
          </p:cNvPr>
          <p:cNvSpPr/>
          <p:nvPr/>
        </p:nvSpPr>
        <p:spPr>
          <a:xfrm>
            <a:off x="411480" y="13716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Module — Extended Version</a:t>
            </a:r>
            <a:endParaRPr lang="en-US" sz="2600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838C3E9C-2B9F-A939-9D15-8A6BBDD78E02}"/>
              </a:ext>
            </a:extLst>
          </p:cNvPr>
          <p:cNvGrpSpPr/>
          <p:nvPr/>
        </p:nvGrpSpPr>
        <p:grpSpPr>
          <a:xfrm>
            <a:off x="409433" y="1017569"/>
            <a:ext cx="6827914" cy="2375624"/>
            <a:chOff x="409433" y="1316273"/>
            <a:chExt cx="6827914" cy="2375624"/>
          </a:xfrm>
        </p:grpSpPr>
        <p:sp>
          <p:nvSpPr>
            <p:cNvPr id="27" name="Shape 12">
              <a:extLst>
                <a:ext uri="{FF2B5EF4-FFF2-40B4-BE49-F238E27FC236}">
                  <a16:creationId xmlns:a16="http://schemas.microsoft.com/office/drawing/2014/main" id="{9BE8544D-F694-5982-C85A-1416C66D4F14}"/>
                </a:ext>
              </a:extLst>
            </p:cNvPr>
            <p:cNvSpPr/>
            <p:nvPr/>
          </p:nvSpPr>
          <p:spPr>
            <a:xfrm>
              <a:off x="411480" y="2392513"/>
              <a:ext cx="6030263" cy="560385"/>
            </a:xfrm>
            <a:prstGeom prst="rect">
              <a:avLst/>
            </a:prstGeom>
            <a:solidFill>
              <a:srgbClr val="EEF3FA"/>
            </a:solidFill>
            <a:ln w="9525">
              <a:solidFill>
                <a:srgbClr val="C5D8EE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Shape 12">
              <a:extLst>
                <a:ext uri="{FF2B5EF4-FFF2-40B4-BE49-F238E27FC236}">
                  <a16:creationId xmlns:a16="http://schemas.microsoft.com/office/drawing/2014/main" id="{3031B469-FBF8-1B15-7231-38AC65154833}"/>
                </a:ext>
              </a:extLst>
            </p:cNvPr>
            <p:cNvSpPr/>
            <p:nvPr/>
          </p:nvSpPr>
          <p:spPr>
            <a:xfrm>
              <a:off x="411480" y="3013508"/>
              <a:ext cx="6030263" cy="560385"/>
            </a:xfrm>
            <a:prstGeom prst="rect">
              <a:avLst/>
            </a:prstGeom>
            <a:solidFill>
              <a:srgbClr val="EEF3FA"/>
            </a:solidFill>
            <a:ln w="9525">
              <a:solidFill>
                <a:srgbClr val="C5D8EE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Shape 12">
              <a:extLst>
                <a:ext uri="{FF2B5EF4-FFF2-40B4-BE49-F238E27FC236}">
                  <a16:creationId xmlns:a16="http://schemas.microsoft.com/office/drawing/2014/main" id="{A064A7E5-F6C9-82AC-B38D-6D11869B182E}"/>
                </a:ext>
              </a:extLst>
            </p:cNvPr>
            <p:cNvSpPr/>
            <p:nvPr/>
          </p:nvSpPr>
          <p:spPr>
            <a:xfrm>
              <a:off x="411480" y="1771518"/>
              <a:ext cx="6030263" cy="560385"/>
            </a:xfrm>
            <a:prstGeom prst="rect">
              <a:avLst/>
            </a:prstGeom>
            <a:solidFill>
              <a:srgbClr val="EEF3FA"/>
            </a:solidFill>
            <a:ln w="9525">
              <a:solidFill>
                <a:srgbClr val="C5D8EE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 8">
              <a:extLst>
                <a:ext uri="{FF2B5EF4-FFF2-40B4-BE49-F238E27FC236}">
                  <a16:creationId xmlns:a16="http://schemas.microsoft.com/office/drawing/2014/main" id="{C5D3A6F1-908A-2165-F63D-DD739B7808EB}"/>
                </a:ext>
              </a:extLst>
            </p:cNvPr>
            <p:cNvSpPr/>
            <p:nvPr/>
          </p:nvSpPr>
          <p:spPr>
            <a:xfrm>
              <a:off x="409433" y="1316273"/>
              <a:ext cx="393192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F4E7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New Components Added in Extended Version</a:t>
              </a:r>
              <a:endParaRPr lang="en-US" sz="1400" dirty="0"/>
            </a:p>
          </p:txBody>
        </p:sp>
        <p:sp>
          <p:nvSpPr>
            <p:cNvPr id="13" name="Text 10">
              <a:extLst>
                <a:ext uri="{FF2B5EF4-FFF2-40B4-BE49-F238E27FC236}">
                  <a16:creationId xmlns:a16="http://schemas.microsoft.com/office/drawing/2014/main" id="{58809C85-E93B-0174-C56E-254722D44660}"/>
                </a:ext>
              </a:extLst>
            </p:cNvPr>
            <p:cNvSpPr/>
            <p:nvPr/>
          </p:nvSpPr>
          <p:spPr>
            <a:xfrm>
              <a:off x="519161" y="1777472"/>
              <a:ext cx="6718186" cy="27711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1F4E7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top_alu</a:t>
              </a:r>
              <a:endParaRPr lang="en-US" sz="1100" dirty="0"/>
            </a:p>
          </p:txBody>
        </p:sp>
        <p:sp>
          <p:nvSpPr>
            <p:cNvPr id="14" name="Text 11">
              <a:extLst>
                <a:ext uri="{FF2B5EF4-FFF2-40B4-BE49-F238E27FC236}">
                  <a16:creationId xmlns:a16="http://schemas.microsoft.com/office/drawing/2014/main" id="{C9C4454D-EAE7-023D-0423-E5A8FAEBD99D}"/>
                </a:ext>
              </a:extLst>
            </p:cNvPr>
            <p:cNvSpPr/>
            <p:nvPr/>
          </p:nvSpPr>
          <p:spPr>
            <a:xfrm>
              <a:off x="519161" y="2054589"/>
              <a:ext cx="6718186" cy="42557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21212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Wrapper module combining ADD_SUB_4bit, Comparator, and Logic Unit. Selects output via 3-bit alu_op control signal.</a:t>
              </a:r>
              <a:endParaRPr lang="en-US" sz="950" dirty="0"/>
            </a:p>
          </p:txBody>
        </p: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DABF6774-3E52-A3ED-1B62-E7E73836B235}"/>
                </a:ext>
              </a:extLst>
            </p:cNvPr>
            <p:cNvGrpSpPr/>
            <p:nvPr/>
          </p:nvGrpSpPr>
          <p:grpSpPr>
            <a:xfrm>
              <a:off x="519161" y="2434263"/>
              <a:ext cx="4823938" cy="649224"/>
              <a:chOff x="519161" y="2682728"/>
              <a:chExt cx="2478024" cy="649224"/>
            </a:xfrm>
          </p:grpSpPr>
          <p:sp>
            <p:nvSpPr>
              <p:cNvPr id="16" name="Text 13">
                <a:extLst>
                  <a:ext uri="{FF2B5EF4-FFF2-40B4-BE49-F238E27FC236}">
                    <a16:creationId xmlns:a16="http://schemas.microsoft.com/office/drawing/2014/main" id="{7997E427-E65B-6EC8-A7FE-07EEEA422A87}"/>
                  </a:ext>
                </a:extLst>
              </p:cNvPr>
              <p:cNvSpPr/>
              <p:nvPr/>
            </p:nvSpPr>
            <p:spPr>
              <a:xfrm>
                <a:off x="519161" y="2682728"/>
                <a:ext cx="2478024" cy="25603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100" b="1" dirty="0">
                    <a:solidFill>
                      <a:srgbClr val="1F4E79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Comparator</a:t>
                </a:r>
                <a:endParaRPr lang="en-US" sz="1100" dirty="0"/>
              </a:p>
            </p:txBody>
          </p:sp>
          <p:sp>
            <p:nvSpPr>
              <p:cNvPr id="17" name="Text 14">
                <a:extLst>
                  <a:ext uri="{FF2B5EF4-FFF2-40B4-BE49-F238E27FC236}">
                    <a16:creationId xmlns:a16="http://schemas.microsoft.com/office/drawing/2014/main" id="{BCC45CD3-4FFC-47E0-688A-EFB91DD52F85}"/>
                  </a:ext>
                </a:extLst>
              </p:cNvPr>
              <p:cNvSpPr/>
              <p:nvPr/>
            </p:nvSpPr>
            <p:spPr>
              <a:xfrm>
                <a:off x="519161" y="2938760"/>
                <a:ext cx="2478024" cy="39319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>
                  <a:buNone/>
                </a:pPr>
                <a:r>
                  <a:rPr lang="en-US" sz="950" dirty="0">
                    <a:solidFill>
                      <a:srgbClr val="21212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Performs signed and unsigned 4-bit comparison; generates GT, EQ, and LT flag signals.</a:t>
                </a:r>
                <a:endParaRPr lang="en-US" sz="950" dirty="0"/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236E1B2A-2B97-1E5A-D3C3-301558D2FFF1}"/>
                </a:ext>
              </a:extLst>
            </p:cNvPr>
            <p:cNvGrpSpPr/>
            <p:nvPr/>
          </p:nvGrpSpPr>
          <p:grpSpPr>
            <a:xfrm>
              <a:off x="519160" y="3042673"/>
              <a:ext cx="4052839" cy="649224"/>
              <a:chOff x="519161" y="3543764"/>
              <a:chExt cx="2478024" cy="649224"/>
            </a:xfrm>
          </p:grpSpPr>
          <p:sp>
            <p:nvSpPr>
              <p:cNvPr id="19" name="Text 16">
                <a:extLst>
                  <a:ext uri="{FF2B5EF4-FFF2-40B4-BE49-F238E27FC236}">
                    <a16:creationId xmlns:a16="http://schemas.microsoft.com/office/drawing/2014/main" id="{559CAD40-E1E4-0E61-ADA8-C79E0BABAB21}"/>
                  </a:ext>
                </a:extLst>
              </p:cNvPr>
              <p:cNvSpPr/>
              <p:nvPr/>
            </p:nvSpPr>
            <p:spPr>
              <a:xfrm>
                <a:off x="519161" y="3543764"/>
                <a:ext cx="2478024" cy="25603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100" b="1" dirty="0">
                    <a:solidFill>
                      <a:srgbClr val="1F4E79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Logic Unit (binOp)</a:t>
                </a:r>
                <a:endParaRPr lang="en-US" sz="1100" dirty="0"/>
              </a:p>
            </p:txBody>
          </p:sp>
          <p:sp>
            <p:nvSpPr>
              <p:cNvPr id="20" name="Text 17">
                <a:extLst>
                  <a:ext uri="{FF2B5EF4-FFF2-40B4-BE49-F238E27FC236}">
                    <a16:creationId xmlns:a16="http://schemas.microsoft.com/office/drawing/2014/main" id="{0CC82AD0-EC1F-1D87-5B07-B80746B21589}"/>
                  </a:ext>
                </a:extLst>
              </p:cNvPr>
              <p:cNvSpPr/>
              <p:nvPr/>
            </p:nvSpPr>
            <p:spPr>
              <a:xfrm>
                <a:off x="519161" y="3799796"/>
                <a:ext cx="2478024" cy="39319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>
                  <a:buNone/>
                </a:pPr>
                <a:r>
                  <a:rPr lang="en-US" sz="950" dirty="0">
                    <a:solidFill>
                      <a:srgbClr val="21212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Implements bitwise AND, OR, XOR, and NOT operations on 4-bit operands.</a:t>
                </a:r>
                <a:endParaRPr lang="en-US" sz="950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3211404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3716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Components — Overview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097280"/>
            <a:ext cx="2651760" cy="987552"/>
          </a:xfrm>
          <a:prstGeom prst="rect">
            <a:avLst/>
          </a:prstGeom>
          <a:solidFill>
            <a:srgbClr val="EEF3FA"/>
          </a:solidFill>
          <a:ln w="9525">
            <a:solidFill>
              <a:srgbClr val="C5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21208" y="1161288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ROM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21208" y="1417320"/>
            <a:ext cx="24323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8-location ROM (12-bit optimized / 14-bit extended) driven by 3-bit PC address bus.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46120" y="1097280"/>
            <a:ext cx="2651760" cy="987552"/>
          </a:xfrm>
          <a:prstGeom prst="rect">
            <a:avLst/>
          </a:prstGeom>
          <a:solidFill>
            <a:srgbClr val="EEF3FA"/>
          </a:solidFill>
          <a:ln w="9525">
            <a:solidFill>
              <a:srgbClr val="C5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355848" y="1161288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Counter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355848" y="1417320"/>
            <a:ext cx="24323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3-bit counter tracking the current instruction address; supports conditional load for JZR branches.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080760" y="1097280"/>
            <a:ext cx="2651760" cy="987552"/>
          </a:xfrm>
          <a:prstGeom prst="rect">
            <a:avLst/>
          </a:prstGeom>
          <a:solidFill>
            <a:srgbClr val="EEF3FA"/>
          </a:solidFill>
          <a:ln w="9525">
            <a:solidFill>
              <a:srgbClr val="C5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190488" y="1161288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Clock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190488" y="1417320"/>
            <a:ext cx="24323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divider reducing 100 MHz system clock to ~0.5 Hz for observable hardware stepping.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11480" y="2176272"/>
            <a:ext cx="2651760" cy="987552"/>
          </a:xfrm>
          <a:prstGeom prst="rect">
            <a:avLst/>
          </a:prstGeom>
          <a:solidFill>
            <a:srgbClr val="EEF3FA"/>
          </a:solidFill>
          <a:ln w="9525">
            <a:solidFill>
              <a:srgbClr val="C5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21208" y="2240280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 Decoder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21208" y="2496312"/>
            <a:ext cx="24323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Decodes the instruction word and asserts control signals: reg_write_en, alu_sub, wb_sel_imm, pc_load, alu_op.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46120" y="2176272"/>
            <a:ext cx="2651760" cy="987552"/>
          </a:xfrm>
          <a:prstGeom prst="rect">
            <a:avLst/>
          </a:prstGeom>
          <a:solidFill>
            <a:srgbClr val="EEF3FA"/>
          </a:solidFill>
          <a:ln w="9525">
            <a:solidFill>
              <a:srgbClr val="C5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355848" y="2240280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Bank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355848" y="2496312"/>
            <a:ext cx="24323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4-bit registers (R0–R7) with synchronous write enable, 3-to-8 decoder for write selection, and two concurrent read ports.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80760" y="2176272"/>
            <a:ext cx="2651760" cy="987552"/>
          </a:xfrm>
          <a:prstGeom prst="rect">
            <a:avLst/>
          </a:prstGeom>
          <a:solidFill>
            <a:srgbClr val="EEF3FA"/>
          </a:solidFill>
          <a:ln w="9525">
            <a:solidFill>
              <a:srgbClr val="C5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190488" y="2240280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 / Top ALU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190488" y="2496312"/>
            <a:ext cx="24323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Optimized: standalone ADD_SUB_4bit. Extended: top_alu integrating arithmetic, logic, and comparison sub-units.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11480" y="3255264"/>
            <a:ext cx="2651760" cy="987552"/>
          </a:xfrm>
          <a:prstGeom prst="rect">
            <a:avLst/>
          </a:prstGeom>
          <a:solidFill>
            <a:srgbClr val="EEF3FA"/>
          </a:solidFill>
          <a:ln w="9525">
            <a:solidFill>
              <a:srgbClr val="C5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21208" y="3319272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Seven-Segment Display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21208" y="3575304"/>
            <a:ext cx="24323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the 4-bit ALU result into BCD for real-time display on the Basys 3 seven-segment output.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46120" y="3255264"/>
            <a:ext cx="2651760" cy="987552"/>
          </a:xfrm>
          <a:prstGeom prst="rect">
            <a:avLst/>
          </a:prstGeom>
          <a:solidFill>
            <a:srgbClr val="EEF3FA"/>
          </a:solidFill>
          <a:ln w="9525">
            <a:solidFill>
              <a:srgbClr val="C5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355848" y="3319272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Selector MUX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355848" y="3575304"/>
            <a:ext cx="24323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2-way 4-bit mux selecting between the ALU output and the immediate data field for register writeback.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080760" y="3255264"/>
            <a:ext cx="2651760" cy="987552"/>
          </a:xfrm>
          <a:prstGeom prst="rect">
            <a:avLst/>
          </a:prstGeom>
          <a:solidFill>
            <a:srgbClr val="EEF3FA"/>
          </a:solidFill>
          <a:ln w="9525">
            <a:solidFill>
              <a:srgbClr val="C5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190488" y="3319272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Unit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190488" y="3575304"/>
            <a:ext cx="24323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Clocked register capturing zero, overflow, and (in extended) GT/EQ/LT comparison flags from the ALU.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3716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 ROM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4124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Specification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0256906"/>
              </p:ext>
            </p:extLst>
          </p:nvPr>
        </p:nvGraphicFramePr>
        <p:xfrm>
          <a:off x="411480" y="1170432"/>
          <a:ext cx="4114800" cy="2340864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Parameter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Value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Type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ROM (read-only memory)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Depth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8 locations (8 instructions)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Width (Optimized)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12 bits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Width (Extended)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14 bits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Address input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3-bit (from Program Counter)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Data output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12 / 14-bit instruction word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Access type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Asynchronous (combinational)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754880" y="84124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VHDL Implementation Approach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754880" y="1170432"/>
            <a:ext cx="3931920" cy="2340864"/>
          </a:xfrm>
          <a:prstGeom prst="rect">
            <a:avLst/>
          </a:prstGeom>
          <a:solidFill>
            <a:srgbClr val="F4F4F4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754880" y="1207008"/>
            <a:ext cx="3840480" cy="2206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 </a:t>
            </a:r>
            <a:r>
              <a:rPr lang="en-US" sz="880" dirty="0" err="1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program_rom</a:t>
            </a:r>
            <a:r>
              <a:rPr lang="en-US" sz="88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is </a:t>
            </a:r>
          </a:p>
          <a:p>
            <a:pPr marL="0" indent="0">
              <a:buNone/>
            </a:pPr>
            <a:r>
              <a:rPr lang="en-US" sz="88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Port ( </a:t>
            </a:r>
            <a:r>
              <a:rPr lang="en-US" sz="880" dirty="0" err="1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addr</a:t>
            </a:r>
            <a:r>
              <a:rPr lang="en-US" sz="88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: in  STD_LOGIC_VECTOR (2 </a:t>
            </a:r>
            <a:r>
              <a:rPr lang="en-US" sz="880" dirty="0" err="1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downto</a:t>
            </a:r>
            <a:r>
              <a:rPr lang="en-US" sz="88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0); </a:t>
            </a:r>
          </a:p>
          <a:p>
            <a:pPr marL="0" indent="0">
              <a:buNone/>
            </a:pPr>
            <a:r>
              <a:rPr lang="en-US" sz="88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data : out STD_LOGIC_VECTOR (11 </a:t>
            </a:r>
            <a:r>
              <a:rPr lang="en-US" sz="880" dirty="0" err="1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downto</a:t>
            </a:r>
            <a:r>
              <a:rPr lang="en-US" sz="88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0)); </a:t>
            </a:r>
          </a:p>
          <a:p>
            <a:pPr marL="0" indent="0">
              <a:buNone/>
            </a:pPr>
            <a:r>
              <a:rPr lang="en-US" sz="88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 </a:t>
            </a:r>
            <a:r>
              <a:rPr lang="en-US" sz="880" dirty="0" err="1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program_rom</a:t>
            </a:r>
            <a:r>
              <a:rPr lang="en-US" sz="88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</a:t>
            </a:r>
          </a:p>
          <a:p>
            <a:pPr marL="0" indent="0">
              <a:buNone/>
            </a:pPr>
            <a:endParaRPr lang="en-US" sz="880" dirty="0">
              <a:solidFill>
                <a:srgbClr val="212121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>
              <a:buNone/>
            </a:pPr>
            <a:r>
              <a:rPr lang="en-US" sz="88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 Behavioral of </a:t>
            </a:r>
            <a:r>
              <a:rPr lang="en-US" sz="880" dirty="0" err="1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program_rom</a:t>
            </a:r>
            <a:r>
              <a:rPr lang="en-US" sz="88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is </a:t>
            </a:r>
          </a:p>
          <a:p>
            <a:pPr marL="0" indent="0">
              <a:buNone/>
            </a:pPr>
            <a:endParaRPr lang="en-US" sz="880" dirty="0">
              <a:solidFill>
                <a:srgbClr val="212121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>
              <a:buNone/>
            </a:pPr>
            <a:r>
              <a:rPr lang="en-US" sz="88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 </a:t>
            </a:r>
            <a:r>
              <a:rPr lang="en-US" sz="880" dirty="0" err="1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rom_array</a:t>
            </a:r>
            <a:r>
              <a:rPr lang="en-US" sz="88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is array (0 to 7) of </a:t>
            </a:r>
            <a:r>
              <a:rPr lang="en-US" sz="880" dirty="0" err="1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std_logic_vector</a:t>
            </a:r>
            <a:r>
              <a:rPr lang="en-US" sz="88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(11 </a:t>
            </a:r>
            <a:r>
              <a:rPr lang="en-US" sz="880" dirty="0" err="1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downto</a:t>
            </a:r>
            <a:r>
              <a:rPr lang="en-US" sz="88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0); </a:t>
            </a:r>
          </a:p>
          <a:p>
            <a:pPr marL="0" indent="0">
              <a:buNone/>
            </a:pPr>
            <a:endParaRPr lang="en-US" sz="880" dirty="0">
              <a:solidFill>
                <a:srgbClr val="212121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>
              <a:buNone/>
            </a:pPr>
            <a:r>
              <a:rPr lang="en-US" sz="88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constant ROM : </a:t>
            </a:r>
            <a:r>
              <a:rPr lang="en-US" sz="880" dirty="0" err="1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rom_array</a:t>
            </a:r>
            <a:r>
              <a:rPr lang="en-US" sz="88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:= ( </a:t>
            </a:r>
          </a:p>
          <a:p>
            <a:pPr marL="0" indent="0">
              <a:buNone/>
            </a:pPr>
            <a:r>
              <a:rPr lang="en-US" sz="88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0 =&gt; "101110000000",   -- MOVI R7, 0   (R7 = 0) </a:t>
            </a:r>
          </a:p>
          <a:p>
            <a:pPr marL="0" indent="0">
              <a:buNone/>
            </a:pPr>
            <a:r>
              <a:rPr lang="en-US" sz="88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1 =&gt; "100010000001",   -- MOVI R1, 1   (R1 = 1) </a:t>
            </a:r>
          </a:p>
          <a:p>
            <a:pPr marL="0" indent="0">
              <a:buNone/>
            </a:pPr>
            <a:r>
              <a:rPr lang="en-US" sz="88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...</a:t>
            </a:r>
          </a:p>
          <a:p>
            <a:pPr marL="0" indent="0">
              <a:buNone/>
            </a:pPr>
            <a:r>
              <a:rPr lang="en-US" sz="88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others =&gt; (others =&gt; '0’) </a:t>
            </a:r>
          </a:p>
          <a:p>
            <a:pPr marL="0" indent="0">
              <a:buNone/>
            </a:pPr>
            <a:r>
              <a:rPr lang="en-US" sz="88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);</a:t>
            </a:r>
            <a:endParaRPr lang="en-US" sz="880" dirty="0"/>
          </a:p>
        </p:txBody>
      </p:sp>
      <p:sp>
        <p:nvSpPr>
          <p:cNvPr id="9" name="Text 6"/>
          <p:cNvSpPr/>
          <p:nvPr/>
        </p:nvSpPr>
        <p:spPr>
          <a:xfrm>
            <a:off x="411480" y="3749040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in Processor Datapath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11480" y="4069080"/>
            <a:ext cx="8321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ROM stores the hardcoded instruction sequence loaded at synthesis time.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3-bit PC address selects which of the 8 instruction words is presented to the instruction decoder on each clock cycle.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Extended version widens the data bus to 14 bits to accommodate the 4-bit opcode and larger instruction fields.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3716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 Counter &amp; Address Control Logic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4124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Counter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11480" y="1170432"/>
            <a:ext cx="41148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3-bit register tracking the current instruction address (0–7).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each slow-clock rising edge: if pc_load='1' and zero flag set, loads jump target d; otherwise increments by 1.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Synchronous reset (btnC) returns PC to '000'.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Driven by the slow clock (~0.5 Hz) so execution is observable on hardware.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257175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3-bit Adder (PC Increment)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2882646"/>
            <a:ext cx="41148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Combinational 3-bit adder computes PC + 1 for the next sequential instruction.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from a chain of full adders, consistent with the structural VHDL approach used throughout.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fed to the PC register and to the MUX for jump target selection.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17720" y="822960"/>
            <a:ext cx="0" cy="4297680"/>
          </a:xfrm>
          <a:prstGeom prst="line">
            <a:avLst/>
          </a:prstGeom>
          <a:noFill/>
          <a:ln w="1016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754880" y="84124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Multiplexer &amp; Jump Logic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54880" y="1170432"/>
            <a:ext cx="39319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2-way MUX selects between PC+1 (sequential) and jump address d (branch taken).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signal: pc_load AND zero_flag — only JZR with R=0 triggers a branch.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 address d is encoded directly in the instruction word (bits [2:0] for optimized).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4880" y="2546604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Control Signal Summary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0269944"/>
              </p:ext>
            </p:extLst>
          </p:nvPr>
        </p:nvGraphicFramePr>
        <p:xfrm>
          <a:off x="4754880" y="2857500"/>
          <a:ext cx="3931920" cy="1828800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14401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3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6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Condition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pc_load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Zero flag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PC next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Normal execution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X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PC + 1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JZR, R ≠ 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0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PC + 1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JZR, R = 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1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d (jump target)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Reset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X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3716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Slow Clock — Frequency Division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4124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 &amp; Design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11480" y="1170432"/>
            <a:ext cx="41148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Basys 3 oscillator generates a 100 MHz system clock. Direct use at this frequency would make register transitions invisible to the human eye.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slow_clock module uses a counter-based frequency divider to reduce the processor's operating clock to approximately 0.5 Hz.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enable input allows the top module to gate the slow clock output.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28-bit counter counts to 50,000,000 (half-period) and toggles the output, yielding ~1 Hz → ~0.5 Hz toggle rate.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338328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Interface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3703320"/>
            <a:ext cx="4114800" cy="1280160"/>
          </a:xfrm>
          <a:prstGeom prst="rect">
            <a:avLst/>
          </a:prstGeom>
          <a:solidFill>
            <a:srgbClr val="F4F4F4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3730752"/>
            <a:ext cx="38404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 slow_clock is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Port 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clk_in : in  STD_LOGIC;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enable : in  STD_LOGIC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 slow_clock;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09160" y="822960"/>
            <a:ext cx="0" cy="4297680"/>
          </a:xfrm>
          <a:prstGeom prst="line">
            <a:avLst/>
          </a:prstGeom>
          <a:noFill/>
          <a:ln w="1016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46320" y="84124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Division Parameters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147397"/>
              </p:ext>
            </p:extLst>
          </p:nvPr>
        </p:nvGraphicFramePr>
        <p:xfrm>
          <a:off x="4846320" y="1170432"/>
          <a:ext cx="3840480" cy="2331720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1752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7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Parameter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Value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Input clock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100 MHz (Basys 3)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Counter width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28 bits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Half-period count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50,000,000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Output frequency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~1 Hz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Effective processor step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~0.5 Hz (one instruction per 2 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Purpose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Human-observable FPGA execution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4846320" y="365760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Flow</a:t>
            </a:r>
            <a:endParaRPr lang="en-US" sz="1300" dirty="0"/>
          </a:p>
        </p:txBody>
      </p:sp>
      <p:sp>
        <p:nvSpPr>
          <p:cNvPr id="11" name="Text 10"/>
          <p:cNvSpPr/>
          <p:nvPr/>
        </p:nvSpPr>
        <p:spPr>
          <a:xfrm>
            <a:off x="4846320" y="397764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Clk_100MHz → slow_clock → divided clock signal → PC register clock input.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divided clock governs all synchronous state transitions in the processor.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3716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Instruction Decoder — Optimized Version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063240" y="355549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11480" y="931164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 Inputs &amp; Outputs</a:t>
            </a:r>
            <a:endParaRPr lang="en-US" sz="1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9740068"/>
              </p:ext>
            </p:extLst>
          </p:nvPr>
        </p:nvGraphicFramePr>
        <p:xfrm>
          <a:off x="411480" y="1269492"/>
          <a:ext cx="4572000" cy="3456432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11963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91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821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Port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Direction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Width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Purpose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instruction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12-bit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Full instruction word from ROM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zero_flag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1-bit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Zero flag from flags unit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reg_write_en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out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1-bit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Enable write to register bank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reg_write_sel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out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3-bit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Destination register address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read_sel_a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out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3-bit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Source register Ra address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read_sel_b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out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3-bit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Source register Rb address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alu_sub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out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1-bit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ALU operation: 0=ADD, 1=NEG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wb_sel_imm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out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1-bit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Writeback: 0=ALU result, 1=immediate 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pc_load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out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1-bit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Enable PC jump (JZR)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166360" y="822960"/>
            <a:ext cx="0" cy="4297680"/>
          </a:xfrm>
          <a:prstGeom prst="line">
            <a:avLst/>
          </a:prstGeom>
          <a:noFill/>
          <a:ln w="1016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303520" y="1170432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Decoding Logic (2-bit Opcode)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303520" y="1508760"/>
            <a:ext cx="33832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Opcode = instruction[11:10] selects instruction type.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 → ADD: reg_write_en=1, alu_sub=0, wb_sel_imm=0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→ NEG: reg_write_en=1, alu_sub=1, wb_sel_imm=0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→ MOVI: reg_write_en=1, wb_sel_imm=1 (immediate d = inst[3:0])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→ JZR: pc_load=1 (branch if zero_flag=1), reg_write_en=0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fields: Ra/R = inst[9:7], Rb = inst[6:4]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303520" y="3625596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303520" y="3945636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via Vivado simulation with all four instruction opcodes as stimuli; timing diagram confirmed correct control signal assertion on each instruction word.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3716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Instruction Decoder — Extended Version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82296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11480" y="841248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from Optimized Decoder</a:t>
            </a:r>
            <a:endParaRPr lang="en-US" sz="13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1477150"/>
              </p:ext>
            </p:extLst>
          </p:nvPr>
        </p:nvGraphicFramePr>
        <p:xfrm>
          <a:off x="411480" y="1170432"/>
          <a:ext cx="8321040" cy="3072384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Optimized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Extended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Instruction width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12-bit input bus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14-bit input bus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Opcode field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inst[11:10] — 2 bits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inst[13:10] — 4 bits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Sub-opcode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Not applicable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inst[5:3] — 3 bits for alu_op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alu_op signal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1-bit alu_sub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3-bit alu_op for top_alu selection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New instructions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SUB, CMPU, CMP, OR, AND, XOR, NOT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Flag enable (flag_en)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Not present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Added to control flag register write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JZR range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d ∈ [0,7]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d ∈ [−8,7] (signed, 4 bits)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DC92D8-8DF9-4371-0E34-95ECB8224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02AEA45-7ABD-A40E-29F8-D9F2841F743B}"/>
              </a:ext>
            </a:extLst>
          </p:cNvPr>
          <p:cNvSpPr/>
          <p:nvPr/>
        </p:nvSpPr>
        <p:spPr>
          <a:xfrm>
            <a:off x="411480" y="13716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Instruction Decoder — Extended Version</a:t>
            </a:r>
            <a:endParaRPr lang="en-US" sz="26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55EF1D4-A9A6-895D-62CE-F1AB8F49B557}"/>
              </a:ext>
            </a:extLst>
          </p:cNvPr>
          <p:cNvSpPr/>
          <p:nvPr/>
        </p:nvSpPr>
        <p:spPr>
          <a:xfrm>
            <a:off x="411480" y="82296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</a:t>
            </a:r>
            <a:endParaRPr lang="en-US" sz="10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7B2E2784-C7D0-590A-6C8D-55AA5EA3F5E5}"/>
              </a:ext>
            </a:extLst>
          </p:cNvPr>
          <p:cNvSpPr/>
          <p:nvPr/>
        </p:nvSpPr>
        <p:spPr>
          <a:xfrm>
            <a:off x="411480" y="1025957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Decoding Logic — alu_op Mapping</a:t>
            </a:r>
            <a:endParaRPr lang="en-US" sz="1300" dirty="0"/>
          </a:p>
        </p:txBody>
      </p:sp>
      <p:graphicFrame>
        <p:nvGraphicFramePr>
          <p:cNvPr id="29" name="Table 1">
            <a:extLst>
              <a:ext uri="{FF2B5EF4-FFF2-40B4-BE49-F238E27FC236}">
                <a16:creationId xmlns:a16="http://schemas.microsoft.com/office/drawing/2014/main" id="{17152303-D8AE-5E6D-29E7-D43DCEBEC4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738765"/>
              </p:ext>
            </p:extLst>
          </p:nvPr>
        </p:nvGraphicFramePr>
        <p:xfrm>
          <a:off x="411480" y="1373429"/>
          <a:ext cx="8321040" cy="2715768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26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Opcode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Instruction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top_alu routing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0000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ADD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ADD_SUB_4bit, alu_sel=0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0001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SUB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ADD_SUB_4bit, alu_sel=1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0010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CMPU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Comparator (unsigned)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0011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CMP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Comparator (signed)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0100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Logic unit, binop_sel=00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0101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AND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Logic unit, binop_sel=01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0110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XOR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Logic unit, binop_sel=10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0111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NOT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Logic unit, binop_sel=11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190562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3716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Register Bank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71487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Specification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11480" y="1044054"/>
            <a:ext cx="4114800" cy="152998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4-bit general-purpose registers, R0 through R7.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R0 is hardwired to '0000' (read as zero; writes ignored).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Synchronous write: data written on rising clock edge when write_en='1'.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3-to-8 decoder selects the destination register using the 3-bit write_sel signal.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simultaneous read ports provide operands Ra and Rb to the ALU.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263347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Interface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2953512"/>
            <a:ext cx="4114800" cy="1879092"/>
          </a:xfrm>
          <a:prstGeom prst="rect">
            <a:avLst/>
          </a:prstGeom>
          <a:solidFill>
            <a:srgbClr val="F4F4F4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2980944"/>
            <a:ext cx="3840480" cy="174486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 register_bank is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Port (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clk, reset, enable : in  std_logic;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write_en  : in  std_logic;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write_sel : in  std_logic_vector(2 downto 0);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data_in   : in  std_logic_vector(3 downto 0);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read_sel_a: in  std_logic_vector(2 downto 0);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read_sel_b: in  std_logic_vector(2 downto 0);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data_a    : out std_logic_vector(3 downto 0);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data_b    : out std_logic_vector(3 downto 0)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 register_bank;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4709160" y="822960"/>
            <a:ext cx="0" cy="4297680"/>
          </a:xfrm>
          <a:prstGeom prst="line">
            <a:avLst/>
          </a:prstGeom>
          <a:noFill/>
          <a:ln w="1016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46320" y="714870"/>
            <a:ext cx="3840480" cy="2649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Architecture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46320" y="1039141"/>
            <a:ext cx="3840480" cy="118513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instances of 4-bit D flip-flop registers, each with synchronous enable.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3-to-8 decoder converts write_sel to one-hot register enable.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8-to-1 multiplexers (4-bit) select Ra and Rb read outputs.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46320" y="2168271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Map</a:t>
            </a:r>
            <a:endParaRPr lang="en-US" sz="13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8628316"/>
              </p:ext>
            </p:extLst>
          </p:nvPr>
        </p:nvGraphicFramePr>
        <p:xfrm>
          <a:off x="4846320" y="2488311"/>
          <a:ext cx="3840480" cy="1682496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Register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Purpose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R0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Hardwired zero (read-only)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R1–R6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General-purpose arithmetic / logic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R7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Primary result output (driven to LEDs)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5AF1FE-E6ED-310A-7363-9FD053832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5F28B69-E7DB-433E-B2CF-84BB0E07A6F1}"/>
              </a:ext>
            </a:extLst>
          </p:cNvPr>
          <p:cNvSpPr/>
          <p:nvPr/>
        </p:nvSpPr>
        <p:spPr>
          <a:xfrm>
            <a:off x="411480" y="13716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Register Bank</a:t>
            </a:r>
            <a:endParaRPr lang="en-US" sz="2600" dirty="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2012497D-B734-4B3F-E26B-B4D231F0DBC0}"/>
              </a:ext>
            </a:extLst>
          </p:cNvPr>
          <p:cNvSpPr/>
          <p:nvPr/>
        </p:nvSpPr>
        <p:spPr>
          <a:xfrm>
            <a:off x="411480" y="68580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300" dirty="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2856E91C-86B7-7FAB-6EB6-EC8C0E5D3349}"/>
              </a:ext>
            </a:extLst>
          </p:cNvPr>
          <p:cNvSpPr/>
          <p:nvPr/>
        </p:nvSpPr>
        <p:spPr>
          <a:xfrm>
            <a:off x="411480" y="1005840"/>
            <a:ext cx="3587313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buSzPct val="100000"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timing diagram confirmed correct write-on-enable behavior.</a:t>
            </a:r>
            <a:endParaRPr lang="en-US" sz="105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35C69649-BDC9-A224-5CCB-4ED1146427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744979"/>
            <a:ext cx="3525236" cy="2532888"/>
          </a:xfrm>
          <a:prstGeom prst="rect">
            <a:avLst/>
          </a:prstGeom>
        </p:spPr>
      </p:pic>
      <p:sp>
        <p:nvSpPr>
          <p:cNvPr id="21" name="Shape 7">
            <a:extLst>
              <a:ext uri="{FF2B5EF4-FFF2-40B4-BE49-F238E27FC236}">
                <a16:creationId xmlns:a16="http://schemas.microsoft.com/office/drawing/2014/main" id="{F507E27B-83CA-70F6-5655-E7EAA4E680FB}"/>
              </a:ext>
            </a:extLst>
          </p:cNvPr>
          <p:cNvSpPr/>
          <p:nvPr/>
        </p:nvSpPr>
        <p:spPr>
          <a:xfrm>
            <a:off x="4054067" y="822960"/>
            <a:ext cx="0" cy="4297680"/>
          </a:xfrm>
          <a:prstGeom prst="line">
            <a:avLst/>
          </a:prstGeom>
          <a:noFill/>
          <a:ln w="1016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1">
            <a:extLst>
              <a:ext uri="{FF2B5EF4-FFF2-40B4-BE49-F238E27FC236}">
                <a16:creationId xmlns:a16="http://schemas.microsoft.com/office/drawing/2014/main" id="{3714AC57-4BB5-B4E5-D91B-4423DC6212ED}"/>
              </a:ext>
            </a:extLst>
          </p:cNvPr>
          <p:cNvSpPr/>
          <p:nvPr/>
        </p:nvSpPr>
        <p:spPr>
          <a:xfrm>
            <a:off x="4369311" y="68580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Schematic</a:t>
            </a:r>
            <a:endParaRPr lang="en-US" sz="1300" dirty="0"/>
          </a:p>
        </p:txBody>
      </p:sp>
      <p:sp>
        <p:nvSpPr>
          <p:cNvPr id="23" name="Text 12">
            <a:extLst>
              <a:ext uri="{FF2B5EF4-FFF2-40B4-BE49-F238E27FC236}">
                <a16:creationId xmlns:a16="http://schemas.microsoft.com/office/drawing/2014/main" id="{629014FA-258F-0A56-82E3-56A3612BA092}"/>
              </a:ext>
            </a:extLst>
          </p:cNvPr>
          <p:cNvSpPr/>
          <p:nvPr/>
        </p:nvSpPr>
        <p:spPr>
          <a:xfrm>
            <a:off x="4369311" y="1010753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buSzPct val="100000"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4-bit registers</a:t>
            </a:r>
            <a:endParaRPr lang="en-US" sz="105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240A1764-B91F-5C90-340D-360391D6B4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5289" y="1303020"/>
            <a:ext cx="3082688" cy="3614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82253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3716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Arithmetic Logic Unit — Overview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41248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 Comparison: Optimized vs. Extended</a:t>
            </a:r>
            <a:endParaRPr lang="en-US" sz="13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4669811"/>
              </p:ext>
            </p:extLst>
          </p:nvPr>
        </p:nvGraphicFramePr>
        <p:xfrm>
          <a:off x="411480" y="1170432"/>
          <a:ext cx="8321040" cy="3291840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Aspect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Optimized Version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Extended Version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Top-level entity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ADD_SUB_4bit (direct)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top_alu (new wrapper module)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ADD / SUB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ADD_SUB_4bit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ADD_SUB_4bit (sub-module inside top_alu)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Bitwise ops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Not present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Logic Unit: AND, OR, XOR, NOT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Comparison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Not present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Comparator: signed &amp; unsigned CMP, CMPU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Output selection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Single result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3-bit alu_op mux selects among sub-units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Zero flag source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ADD_SUB_4bit directly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top_alu output mux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Flags produced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zero, overflow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zero, overflow, GT, EQ, LT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A3183C-DF03-F340-0D12-94EE39E5C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26D5E1C-DA2E-B6E0-71B6-54CDD882E864}"/>
              </a:ext>
            </a:extLst>
          </p:cNvPr>
          <p:cNvSpPr/>
          <p:nvPr/>
        </p:nvSpPr>
        <p:spPr>
          <a:xfrm>
            <a:off x="411480" y="13716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Arithmetic Logic Unit — Overview</a:t>
            </a:r>
            <a:endParaRPr lang="en-US" sz="26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36059FF2-BAF3-0EE2-CC23-6FF119FDBEA2}"/>
              </a:ext>
            </a:extLst>
          </p:cNvPr>
          <p:cNvSpPr/>
          <p:nvPr/>
        </p:nvSpPr>
        <p:spPr>
          <a:xfrm>
            <a:off x="411480" y="868680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Sub-Unit Roles in Extended ALU</a:t>
            </a:r>
            <a:endParaRPr lang="en-US" sz="1300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22A3D62D-6F92-1868-EBB5-64DD5DCAEDB7}"/>
              </a:ext>
            </a:extLst>
          </p:cNvPr>
          <p:cNvSpPr/>
          <p:nvPr/>
        </p:nvSpPr>
        <p:spPr>
          <a:xfrm>
            <a:off x="411480" y="1188720"/>
            <a:ext cx="5349240" cy="739140"/>
          </a:xfrm>
          <a:prstGeom prst="rect">
            <a:avLst/>
          </a:prstGeom>
          <a:solidFill>
            <a:srgbClr val="EEF3FA"/>
          </a:solidFill>
          <a:ln w="9525">
            <a:solidFill>
              <a:srgbClr val="C5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F04539DB-C9AB-226C-6734-C2A44A648558}"/>
              </a:ext>
            </a:extLst>
          </p:cNvPr>
          <p:cNvSpPr/>
          <p:nvPr/>
        </p:nvSpPr>
        <p:spPr>
          <a:xfrm>
            <a:off x="521208" y="1252728"/>
            <a:ext cx="2478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ADD_SUB_4bit</a:t>
            </a:r>
            <a:endParaRPr lang="en-US" sz="115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BB6206AF-4CD4-10B2-A49A-DC5FFCF5F45F}"/>
              </a:ext>
            </a:extLst>
          </p:cNvPr>
          <p:cNvSpPr/>
          <p:nvPr/>
        </p:nvSpPr>
        <p:spPr>
          <a:xfrm>
            <a:off x="521208" y="1508760"/>
            <a:ext cx="49042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4-bit ripple carry adder/subtractor. ADD: B unchanged; SUB: B negated (2's complement). Generates carry, overflow, and zero flags.</a:t>
            </a:r>
            <a:endParaRPr lang="en-US" sz="950" dirty="0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1F230CAE-C718-D2DA-B5FD-2F66F098440B}"/>
              </a:ext>
            </a:extLst>
          </p:cNvPr>
          <p:cNvSpPr/>
          <p:nvPr/>
        </p:nvSpPr>
        <p:spPr>
          <a:xfrm>
            <a:off x="411480" y="2106168"/>
            <a:ext cx="5349240" cy="739140"/>
          </a:xfrm>
          <a:prstGeom prst="rect">
            <a:avLst/>
          </a:prstGeom>
          <a:solidFill>
            <a:srgbClr val="EEF3FA"/>
          </a:solidFill>
          <a:ln w="9525">
            <a:solidFill>
              <a:srgbClr val="C5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720A3F99-FEE6-1445-9885-141BD92B598C}"/>
              </a:ext>
            </a:extLst>
          </p:cNvPr>
          <p:cNvSpPr/>
          <p:nvPr/>
        </p:nvSpPr>
        <p:spPr>
          <a:xfrm>
            <a:off x="521208" y="2170176"/>
            <a:ext cx="2478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Comparator</a:t>
            </a:r>
            <a:endParaRPr lang="en-US" sz="115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771F982B-EDAB-BEFE-B1BA-1ADE2E7AB9D8}"/>
              </a:ext>
            </a:extLst>
          </p:cNvPr>
          <p:cNvSpPr/>
          <p:nvPr/>
        </p:nvSpPr>
        <p:spPr>
          <a:xfrm>
            <a:off x="521208" y="2426208"/>
            <a:ext cx="49042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Performs unsigned (CMPU) and signed (CMP) 4-bit comparison. Generates one-hot GT, EQ, LT flag outputs. Used only for flag updates — does not write to registers.</a:t>
            </a:r>
            <a:endParaRPr lang="en-US" sz="950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F848D4F-FE14-A8C4-1BF3-EE67EDAD3F96}"/>
              </a:ext>
            </a:extLst>
          </p:cNvPr>
          <p:cNvGrpSpPr/>
          <p:nvPr/>
        </p:nvGrpSpPr>
        <p:grpSpPr>
          <a:xfrm>
            <a:off x="411480" y="3020568"/>
            <a:ext cx="5349240" cy="739140"/>
            <a:chOff x="411480" y="3197352"/>
            <a:chExt cx="5349240" cy="739140"/>
          </a:xfrm>
        </p:grpSpPr>
        <p:sp>
          <p:nvSpPr>
            <p:cNvPr id="13" name="Shape 10">
              <a:extLst>
                <a:ext uri="{FF2B5EF4-FFF2-40B4-BE49-F238E27FC236}">
                  <a16:creationId xmlns:a16="http://schemas.microsoft.com/office/drawing/2014/main" id="{2347FFC0-D2B2-180C-43B7-AC4673224132}"/>
                </a:ext>
              </a:extLst>
            </p:cNvPr>
            <p:cNvSpPr/>
            <p:nvPr/>
          </p:nvSpPr>
          <p:spPr>
            <a:xfrm>
              <a:off x="411480" y="3197352"/>
              <a:ext cx="5349240" cy="739140"/>
            </a:xfrm>
            <a:prstGeom prst="rect">
              <a:avLst/>
            </a:prstGeom>
            <a:solidFill>
              <a:srgbClr val="EEF3FA"/>
            </a:solidFill>
            <a:ln w="9525">
              <a:solidFill>
                <a:srgbClr val="C5D8EE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 11">
              <a:extLst>
                <a:ext uri="{FF2B5EF4-FFF2-40B4-BE49-F238E27FC236}">
                  <a16:creationId xmlns:a16="http://schemas.microsoft.com/office/drawing/2014/main" id="{76AD0515-0CF3-2F88-9F42-CFBD4A1B274E}"/>
                </a:ext>
              </a:extLst>
            </p:cNvPr>
            <p:cNvSpPr/>
            <p:nvPr/>
          </p:nvSpPr>
          <p:spPr>
            <a:xfrm>
              <a:off x="521208" y="3261360"/>
              <a:ext cx="2478024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b="1" dirty="0">
                  <a:solidFill>
                    <a:srgbClr val="1F4E7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Logic Unit (binOp)</a:t>
              </a:r>
              <a:endParaRPr lang="en-US" sz="1150" dirty="0"/>
            </a:p>
          </p:txBody>
        </p:sp>
        <p:sp>
          <p:nvSpPr>
            <p:cNvPr id="15" name="Text 12">
              <a:extLst>
                <a:ext uri="{FF2B5EF4-FFF2-40B4-BE49-F238E27FC236}">
                  <a16:creationId xmlns:a16="http://schemas.microsoft.com/office/drawing/2014/main" id="{DD786F0A-96B2-48D5-5B11-69DCAECB1E3E}"/>
                </a:ext>
              </a:extLst>
            </p:cNvPr>
            <p:cNvSpPr/>
            <p:nvPr/>
          </p:nvSpPr>
          <p:spPr>
            <a:xfrm>
              <a:off x="521208" y="3517392"/>
              <a:ext cx="4904232" cy="3017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21212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Implements AND, OR, XOR, and NOT on 4-bit operands. Selected via 2-bit binop_sel from decoder. Result stored in Ra.</a:t>
              </a:r>
              <a:endParaRPr lang="en-US" sz="950" dirty="0"/>
            </a:p>
          </p:txBody>
        </p:sp>
      </p:grpSp>
    </p:spTree>
    <p:extLst>
      <p:ext uri="{BB962C8B-B14F-4D97-AF65-F5344CB8AC3E}">
        <p14:creationId xmlns:p14="http://schemas.microsoft.com/office/powerpoint/2010/main" val="16556181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3716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/ SUB Unit — ADD_SUB_4bit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4124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Overview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11480" y="1170432"/>
            <a:ext cx="41148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4-bit adder/subtractor built on a 4-bit Ripple Carry Adder (RCA_4bit).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alu_sel=0: standard addition (Y = A + B).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alu_sel=1: subtraction via 2's complement (Y = A + ~B + 1).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Overflow detected by XOR of carry-in and carry-out at MSB.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flag asserted when all result bits are '0' (NOR of Y[3:0]).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2825496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Interface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3145536"/>
            <a:ext cx="4114800" cy="1664208"/>
          </a:xfrm>
          <a:prstGeom prst="rect">
            <a:avLst/>
          </a:prstGeom>
          <a:solidFill>
            <a:srgbClr val="F4F4F4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3172968"/>
            <a:ext cx="38404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 ADD_SUB_4bit is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Port (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       : in  STD_LOGIC_VECTOR(3 downto 0);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       : in  STD_LOGIC_VECTOR(3 downto 0);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alu_sel : in  STD_LOGIC;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Y       : out STD_LOGIC_VECTOR(3 downto 0);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carry   : out STD_LOGIC;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overflow: out STD_LOGIC;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zero    : out STD_LOGIC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 ADD_SUB_4bit;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4709160" y="822960"/>
            <a:ext cx="0" cy="4297680"/>
          </a:xfrm>
          <a:prstGeom prst="line">
            <a:avLst/>
          </a:prstGeom>
          <a:noFill/>
          <a:ln w="1016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46320" y="84124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Generation Logic</a:t>
            </a:r>
            <a:endParaRPr lang="en-US" sz="13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258034"/>
              </p:ext>
            </p:extLst>
          </p:nvPr>
        </p:nvGraphicFramePr>
        <p:xfrm>
          <a:off x="4846320" y="1170432"/>
          <a:ext cx="3840480" cy="1280160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868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63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554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Flag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Logic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Condition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zero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NOR(Y[3:0])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Result = 0000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overflow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C_in XOR C_out (MSB)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Signed overflow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carry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C_out of bit 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Unsigned overflow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4846320" y="277063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2's Complement Subtraction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846320" y="3090672"/>
            <a:ext cx="3840480" cy="8823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alu_sel=1, B is bitwise inverted and Cin=1 is injected at bit 0 of the RCA.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implements A − B = A + (~B + 1) via the standard 2's complement technique.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846320" y="397306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846320" y="4293108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confirmed overflow detection, zero flag, and correct subtraction across boundary cases (e.g., 0000 − 0001, signed overflow at 0111 + 0001).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5CD481-3C4B-6870-90CC-7FA8942AA9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1D99635-603E-0F65-0CA3-7AA616801418}"/>
              </a:ext>
            </a:extLst>
          </p:cNvPr>
          <p:cNvSpPr/>
          <p:nvPr/>
        </p:nvSpPr>
        <p:spPr>
          <a:xfrm>
            <a:off x="411480" y="13716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/ SUB Unit — ADD_SUB_4bit</a:t>
            </a:r>
            <a:endParaRPr lang="en-US" sz="26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202795BD-64CC-827A-D89A-B409735470FD}"/>
              </a:ext>
            </a:extLst>
          </p:cNvPr>
          <p:cNvSpPr/>
          <p:nvPr/>
        </p:nvSpPr>
        <p:spPr>
          <a:xfrm>
            <a:off x="4238995" y="761545"/>
            <a:ext cx="0" cy="4297680"/>
          </a:xfrm>
          <a:prstGeom prst="line">
            <a:avLst/>
          </a:prstGeom>
          <a:noFill/>
          <a:ln w="1016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F150BF79-BA82-0EC2-D934-9C065E7F125D}"/>
              </a:ext>
            </a:extLst>
          </p:cNvPr>
          <p:cNvSpPr/>
          <p:nvPr/>
        </p:nvSpPr>
        <p:spPr>
          <a:xfrm>
            <a:off x="411480" y="824529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300" dirty="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6C66F225-A597-B0D0-EB0E-4C7E094C2821}"/>
              </a:ext>
            </a:extLst>
          </p:cNvPr>
          <p:cNvSpPr/>
          <p:nvPr/>
        </p:nvSpPr>
        <p:spPr>
          <a:xfrm>
            <a:off x="411480" y="1144569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buSzPct val="100000"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confirmed overflow detection, zero flag, and correct subtraction across boundary cases (e.g., 0000 − 0001, signed overflow at 0111 + 0001).</a:t>
            </a:r>
            <a:endParaRPr lang="en-US" sz="105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9E63E51-9F78-473B-D1A8-6CE61163C1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912406"/>
            <a:ext cx="3628254" cy="212171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860A7E2-3976-6383-D5BB-D49E9AABC6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3254" y="1692322"/>
            <a:ext cx="4796565" cy="1811382"/>
          </a:xfrm>
          <a:prstGeom prst="rect">
            <a:avLst/>
          </a:prstGeom>
        </p:spPr>
      </p:pic>
      <p:sp>
        <p:nvSpPr>
          <p:cNvPr id="19" name="Text 11">
            <a:extLst>
              <a:ext uri="{FF2B5EF4-FFF2-40B4-BE49-F238E27FC236}">
                <a16:creationId xmlns:a16="http://schemas.microsoft.com/office/drawing/2014/main" id="{0F2E06F9-5EE3-4CFC-3710-44F13767E7DE}"/>
              </a:ext>
            </a:extLst>
          </p:cNvPr>
          <p:cNvSpPr/>
          <p:nvPr/>
        </p:nvSpPr>
        <p:spPr>
          <a:xfrm>
            <a:off x="4517409" y="824529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Schematic</a:t>
            </a:r>
            <a:endParaRPr lang="en-US" sz="1300" dirty="0"/>
          </a:p>
        </p:txBody>
      </p:sp>
      <p:sp>
        <p:nvSpPr>
          <p:cNvPr id="20" name="Text 12">
            <a:extLst>
              <a:ext uri="{FF2B5EF4-FFF2-40B4-BE49-F238E27FC236}">
                <a16:creationId xmlns:a16="http://schemas.microsoft.com/office/drawing/2014/main" id="{0FC39A37-D81D-784D-985C-BAF72F0A2B09}"/>
              </a:ext>
            </a:extLst>
          </p:cNvPr>
          <p:cNvSpPr/>
          <p:nvPr/>
        </p:nvSpPr>
        <p:spPr>
          <a:xfrm>
            <a:off x="4517409" y="1144569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buSzPct val="100000"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U1 -&gt; 4-bit Ripple Carry Adder unit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33046565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3716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Comparator Unit (Extended Version)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935736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Overview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274064"/>
            <a:ext cx="41148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comparator supports both unsigned (CMPU) and signed (CMP) 4-bit comparison.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three one-hot flags: GT (greater than), EQ (equal), LT (less than).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is flag-only — no result is written to the register bank.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Unsigned comparison: direct binary comparison of 4-bit values (range 0–15).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comparison: interprets operands as 2's complement integers (range −8 to +7).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3316224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Interface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3636264"/>
            <a:ext cx="4114800" cy="1202436"/>
          </a:xfrm>
          <a:prstGeom prst="rect">
            <a:avLst/>
          </a:prstGeom>
          <a:solidFill>
            <a:srgbClr val="F4F4F4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3663696"/>
            <a:ext cx="3840480" cy="1118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 comparator is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Port 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A, B : in  STD_LOGIC_VECTOR(3 downto 0);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 : in  STD_LOGIC;  -- 0=unsigned, 1=signed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GT, EQ, LT : out STD_LOGIC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 comparator;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09160" y="822960"/>
            <a:ext cx="0" cy="4297680"/>
          </a:xfrm>
          <a:prstGeom prst="line">
            <a:avLst/>
          </a:prstGeom>
          <a:noFill/>
          <a:ln w="1016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46320" y="935736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Truth Table</a:t>
            </a:r>
            <a:endParaRPr lang="en-US" sz="13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016875"/>
              </p:ext>
            </p:extLst>
          </p:nvPr>
        </p:nvGraphicFramePr>
        <p:xfrm>
          <a:off x="4846320" y="1274064"/>
          <a:ext cx="3840480" cy="1280160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Condition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GT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EQ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A &gt; B  (unsigned or signed)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0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A = 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1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A &lt; B  (unsigned or signed)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0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4846320" y="266242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in top_alu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846320" y="2982468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Comparator is a sub-module of top_alu, selected when alu_op = CMPU (0010) or CMP (0011).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GT/EQ/LT outputs are registered in the flags unit alongside zero and overflow.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conditional program flow beyond the basic JZR zero-check.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846320" y="4200144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846320" y="4501896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Elaborated schematic and Vivado simulation confirmed correct flag assertion for boundary cases in both signed and unsigned modes.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3716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Logic Unit — Bitwise Operations (Extended Version)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89611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 Operations</a:t>
            </a:r>
            <a:endParaRPr lang="en-US" sz="13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1067867"/>
              </p:ext>
            </p:extLst>
          </p:nvPr>
        </p:nvGraphicFramePr>
        <p:xfrm>
          <a:off x="411480" y="1234440"/>
          <a:ext cx="4160520" cy="1828800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Instruction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Operation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Expression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alu_op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AND Ra, Rb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Bitwise AND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Ra ← Ra ∧ Rb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0101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OR  Ra, Rb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Bitwise 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Ra ← Ra ∨ Rb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0100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XOR Ra, Rb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Bitwise XOR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Ra ← Ra ⊕ Rb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0110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NOT Ra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Bitwise NOT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Ra ← ~Ra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0111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11480" y="3255264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Interface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11480" y="3575304"/>
            <a:ext cx="4114800" cy="1417320"/>
          </a:xfrm>
          <a:prstGeom prst="rect">
            <a:avLst/>
          </a:prstGeom>
          <a:solidFill>
            <a:srgbClr val="F4F4F4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48640" y="3602736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 logic_unit is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Port 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A, B     : in  STD_LOGIC_VECTOR(3 downto 0);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binop_sel: in  STD_LOGIC_VECTOR(1 downto 0);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result   : out STD_LOGIC_VECTOR(3 downto 0)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 logic_unit;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binop_sel: 00=OR, 01=AND, 10=XOR, 11=NOT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709160" y="822960"/>
            <a:ext cx="0" cy="4297680"/>
          </a:xfrm>
          <a:prstGeom prst="line">
            <a:avLst/>
          </a:prstGeom>
          <a:noFill/>
          <a:ln w="1016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846320" y="117043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Notes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846320" y="1508760"/>
            <a:ext cx="38404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as a purely combinational circuit using concurrent signal assignments.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2-bit selection input (binop_sel) routes through a case statement to produce the correct output.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NOT, operand B is ignored; Ra is complemented bit by bit.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is presented to the top_alu output mux, which selects it when alu_op indicates a logical operation.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846320" y="342900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846320" y="3749040"/>
            <a:ext cx="38404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unit operates as a sub-module of top_alu alongside ADD_SUB_4bit and the Comparator.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decoder asserts the appropriate alu_op (3-bit) and binop_sel (2-bit) based on the 4-bit opcode field.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Elaborated design schematic verified in Vivado; logic operations confirmed via simulation.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A2724E-676A-DADB-566D-C1A2FB2254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92BBB78-AB2B-0062-B609-CEAF9F576F85}"/>
              </a:ext>
            </a:extLst>
          </p:cNvPr>
          <p:cNvSpPr/>
          <p:nvPr/>
        </p:nvSpPr>
        <p:spPr>
          <a:xfrm>
            <a:off x="411480" y="13716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00" b="1" dirty="0">
                <a:solidFill>
                  <a:srgbClr val="1A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Comparator Unit , Logic Unit</a:t>
            </a:r>
            <a:endParaRPr lang="en-US" sz="26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0CEE7DC-645C-F1EF-189A-CB074A86B0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2895" y="564622"/>
            <a:ext cx="4816034" cy="404832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DA5D90A-601F-9277-24CD-A9079C3F94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820" y="1442054"/>
            <a:ext cx="3942075" cy="2414635"/>
          </a:xfrm>
          <a:prstGeom prst="rect">
            <a:avLst/>
          </a:prstGeom>
        </p:spPr>
      </p:pic>
      <p:sp>
        <p:nvSpPr>
          <p:cNvPr id="18" name="Shape 8">
            <a:extLst>
              <a:ext uri="{FF2B5EF4-FFF2-40B4-BE49-F238E27FC236}">
                <a16:creationId xmlns:a16="http://schemas.microsoft.com/office/drawing/2014/main" id="{E885DC82-FAC9-6241-4C92-C9E808EA8EFE}"/>
              </a:ext>
            </a:extLst>
          </p:cNvPr>
          <p:cNvSpPr/>
          <p:nvPr/>
        </p:nvSpPr>
        <p:spPr>
          <a:xfrm>
            <a:off x="4231488" y="685800"/>
            <a:ext cx="0" cy="4297680"/>
          </a:xfrm>
          <a:prstGeom prst="line">
            <a:avLst/>
          </a:prstGeom>
          <a:noFill/>
          <a:ln w="1016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2976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9100" y="13716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Seven-Segment Display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8580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Overview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11480" y="1014984"/>
            <a:ext cx="4114800" cy="12929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the 4-bit ALU result (0–15) into the appropriate seven-segment encoding for the Basys 3 display.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as a combinational lookup using a case statement (with select in VHDL).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Active-low segment outputs drive segments a–g of the display.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version additionally uses flag LEDs (zero, overflow, GT, EQ, LT).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709160" y="667512"/>
            <a:ext cx="0" cy="4297680"/>
          </a:xfrm>
          <a:prstGeom prst="line">
            <a:avLst/>
          </a:prstGeom>
          <a:noFill/>
          <a:ln w="1016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19100" y="2832661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Interface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19100" y="3161845"/>
            <a:ext cx="3840480" cy="1157671"/>
          </a:xfrm>
          <a:prstGeom prst="rect">
            <a:avLst/>
          </a:prstGeom>
          <a:solidFill>
            <a:srgbClr val="F4F4F4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56259" y="3189277"/>
            <a:ext cx="3840479" cy="12655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 seven_seg is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Port 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data_in : in  STD_LOGIC_VECTOR(3 downto 0);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seg_out : out STD_LOGIC_VECTOR(6 downto 0)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 seven_seg;</a:t>
            </a:r>
            <a:endParaRPr lang="en-US" sz="10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F271B530-FB34-5226-8FAF-177E2965BF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9258" y="1648196"/>
            <a:ext cx="3697077" cy="217384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E9BACC-34E6-6887-D924-2C5D18438E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FD8B737-E616-EBA8-ED28-76CBAD54F1F9}"/>
              </a:ext>
            </a:extLst>
          </p:cNvPr>
          <p:cNvSpPr/>
          <p:nvPr/>
        </p:nvSpPr>
        <p:spPr>
          <a:xfrm>
            <a:off x="419100" y="13716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Seven-Segment Display</a:t>
            </a:r>
            <a:endParaRPr lang="en-US" sz="260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CEA8748A-83F6-80B7-E85B-C3814232D698}"/>
              </a:ext>
            </a:extLst>
          </p:cNvPr>
          <p:cNvSpPr/>
          <p:nvPr/>
        </p:nvSpPr>
        <p:spPr>
          <a:xfrm>
            <a:off x="5623560" y="807003"/>
            <a:ext cx="2575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 Pin Assignments (Basys 3)</a:t>
            </a:r>
            <a:endParaRPr lang="en-US" sz="1300" dirty="0"/>
          </a:p>
        </p:txBody>
      </p:sp>
      <p:graphicFrame>
        <p:nvGraphicFramePr>
          <p:cNvPr id="41" name="Table 1">
            <a:extLst>
              <a:ext uri="{FF2B5EF4-FFF2-40B4-BE49-F238E27FC236}">
                <a16:creationId xmlns:a16="http://schemas.microsoft.com/office/drawing/2014/main" id="{BC88C8F6-8EC7-5171-405B-BC17B4B89E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1332806"/>
              </p:ext>
            </p:extLst>
          </p:nvPr>
        </p:nvGraphicFramePr>
        <p:xfrm>
          <a:off x="5623560" y="1275679"/>
          <a:ext cx="1684134" cy="2522220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9266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74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Signal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seg[0]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W7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seg[1]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W6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seg[2]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U8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seg[3]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V8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seg[4]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U5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seg[5]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V5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8783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seg[6]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U7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847093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an[0]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U2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755470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an[1]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U4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8248034"/>
                  </a:ext>
                </a:extLst>
              </a:tr>
            </a:tbl>
          </a:graphicData>
        </a:graphic>
      </p:graphicFrame>
      <p:sp>
        <p:nvSpPr>
          <p:cNvPr id="14" name="Text 4"/>
          <p:cNvSpPr/>
          <p:nvPr/>
        </p:nvSpPr>
        <p:spPr>
          <a:xfrm>
            <a:off x="411480" y="807003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Encoding (Hex 0–F)</a:t>
            </a:r>
            <a:endParaRPr lang="en-US" sz="13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3794052"/>
              </p:ext>
            </p:extLst>
          </p:nvPr>
        </p:nvGraphicFramePr>
        <p:xfrm>
          <a:off x="411480" y="1179960"/>
          <a:ext cx="4160520" cy="2468880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Value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Decimal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Segments (a–g, active low)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0000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1000000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0001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1111001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0010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0100100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0011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0110000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0100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0011001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0101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0010010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0110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0000010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0111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1111000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6" name="Shape 5">
            <a:extLst>
              <a:ext uri="{FF2B5EF4-FFF2-40B4-BE49-F238E27FC236}">
                <a16:creationId xmlns:a16="http://schemas.microsoft.com/office/drawing/2014/main" id="{086D42C3-0CA7-D1D3-3E86-CB28E46365C7}"/>
              </a:ext>
            </a:extLst>
          </p:cNvPr>
          <p:cNvSpPr/>
          <p:nvPr/>
        </p:nvSpPr>
        <p:spPr>
          <a:xfrm>
            <a:off x="5090160" y="541782"/>
            <a:ext cx="0" cy="4297680"/>
          </a:xfrm>
          <a:prstGeom prst="line">
            <a:avLst/>
          </a:prstGeom>
          <a:noFill/>
          <a:ln w="1016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06195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3716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Fundamental Building Blocks — Half Adder &amp; Full Adder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4124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 Adder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11480" y="1170432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two single-bit inputs A and B.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S = A XOR B;  Carry C = A AND B.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carry-in input; used as the first stage in full adder construction.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2144268"/>
            <a:ext cx="4114800" cy="1051560"/>
          </a:xfrm>
          <a:prstGeom prst="rect">
            <a:avLst/>
          </a:prstGeom>
          <a:solidFill>
            <a:srgbClr val="F4F4F4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217170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 HA is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Port ( A, B : in  STD_LOGIC;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C, S : out STD_LOGIC 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 HA;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S &lt;= A xor B;   C &lt;= A and B;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3278124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 Adder Truth Table</a:t>
            </a:r>
            <a:endParaRPr lang="en-US" sz="13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991599"/>
              </p:ext>
            </p:extLst>
          </p:nvPr>
        </p:nvGraphicFramePr>
        <p:xfrm>
          <a:off x="411480" y="3607308"/>
          <a:ext cx="4114800" cy="1371600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 (Sum)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 (Carry)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0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1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1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0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4709160" y="822960"/>
            <a:ext cx="0" cy="4297680"/>
          </a:xfrm>
          <a:prstGeom prst="line">
            <a:avLst/>
          </a:prstGeom>
          <a:noFill/>
          <a:ln w="1016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846320" y="84124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Adder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846320" y="1170432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three bits: A, B, and carry-in C_in.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from two Half Adders: HA_0 sums A+B; HA_1 adds result to C_in.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= A XOR B XOR C_in;  C_out = (A AND B) OR (C_in AND (A XOR B)).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846320" y="2331720"/>
            <a:ext cx="3840480" cy="1417320"/>
          </a:xfrm>
          <a:prstGeom prst="rect">
            <a:avLst/>
          </a:prstGeom>
          <a:solidFill>
            <a:srgbClr val="F4F4F4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983480" y="2359152"/>
            <a:ext cx="36118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 FA is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Port ( A, B, C_in : in  STD_LOGIC;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S, C_out   : out STD_LOGIC 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 FA;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Two HA instances: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HA_0: A+B -&gt; HA0_S, HA0_C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HA_1: HA0_S + C_in -&gt; S, HA1_C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C_out &lt;= HA0_C or HA1_C;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4846320" y="384048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in Processor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846320" y="4160520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adders are chained to form the 4-bit Ripple Carry Adder used in ADD_SUB_4bit and the 3-bit PC incrementer.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411480" y="987552"/>
            <a:ext cx="2697480" cy="999835"/>
          </a:xfrm>
          <a:prstGeom prst="rect">
            <a:avLst/>
          </a:prstGeom>
          <a:solidFill>
            <a:srgbClr val="EEF3FA"/>
          </a:solidFill>
          <a:ln w="9525">
            <a:solidFill>
              <a:srgbClr val="C5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21208" y="1051560"/>
            <a:ext cx="2478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4-bit Ripple Carry Adder (RCA_4bit)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21208" y="1307592"/>
            <a:ext cx="24780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Chains four Full Adders in series to perform 4-bit addition. Carry propagates from LSB to MSB. Used inside ADD_SUB_4bit for both ADD and SUB operations.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246120" y="987552"/>
            <a:ext cx="2697480" cy="999835"/>
          </a:xfrm>
          <a:prstGeom prst="rect">
            <a:avLst/>
          </a:prstGeom>
          <a:solidFill>
            <a:srgbClr val="EEF3FA"/>
          </a:solidFill>
          <a:ln w="9525">
            <a:solidFill>
              <a:srgbClr val="C5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355848" y="1051560"/>
            <a:ext cx="2478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3-bit Adder (PC Increment)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355848" y="1307592"/>
            <a:ext cx="24780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Specialized 3-bit RCA that computes PC + 1 for sequential instruction fetch. Hardwired to add binary '001' to the current PC value. Output fed to the PC multiplexer.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080760" y="987552"/>
            <a:ext cx="2697480" cy="999835"/>
          </a:xfrm>
          <a:prstGeom prst="rect">
            <a:avLst/>
          </a:prstGeom>
          <a:solidFill>
            <a:srgbClr val="EEF3FA"/>
          </a:solidFill>
          <a:ln w="9525">
            <a:solidFill>
              <a:srgbClr val="C5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190488" y="1051560"/>
            <a:ext cx="2478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3-to-8 Decoder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190488" y="1307592"/>
            <a:ext cx="24780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a 3-bit </a:t>
            </a:r>
            <a:r>
              <a:rPr lang="en-US" sz="950" dirty="0" err="1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write_sel</a:t>
            </a:r>
            <a:r>
              <a:rPr lang="en-US" sz="9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address into one-hot write-enable signals for the register bank. Ensures only one register is written per clock cycle. Gated with </a:t>
            </a:r>
            <a:r>
              <a:rPr lang="en-US" sz="950" dirty="0" err="1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write_en</a:t>
            </a:r>
            <a:r>
              <a:rPr lang="en-US" sz="9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prevent accidental writes.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11480" y="2181936"/>
            <a:ext cx="2697480" cy="999835"/>
          </a:xfrm>
          <a:prstGeom prst="rect">
            <a:avLst/>
          </a:prstGeom>
          <a:solidFill>
            <a:srgbClr val="EEF3FA"/>
          </a:solidFill>
          <a:ln w="9525">
            <a:solidFill>
              <a:srgbClr val="C5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21208" y="2245944"/>
            <a:ext cx="2478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2-way 3-bit Multiplexer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21208" y="2501976"/>
            <a:ext cx="24780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Selects the next Program Counter value: either PC + 1 for sequential execution or jump address d when a JZR branch is taken. Select signal driven by </a:t>
            </a:r>
            <a:r>
              <a:rPr lang="en-US" sz="950" dirty="0" err="1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pc_load</a:t>
            </a:r>
            <a:r>
              <a:rPr lang="en-US" sz="9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r>
              <a:rPr lang="en-US" sz="950" dirty="0" err="1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zero_flag</a:t>
            </a:r>
            <a:r>
              <a:rPr lang="en-US" sz="9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46120" y="2181936"/>
            <a:ext cx="2697480" cy="999835"/>
          </a:xfrm>
          <a:prstGeom prst="rect">
            <a:avLst/>
          </a:prstGeom>
          <a:solidFill>
            <a:srgbClr val="EEF3FA"/>
          </a:solidFill>
          <a:ln w="9525">
            <a:solidFill>
              <a:srgbClr val="C5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355848" y="2245944"/>
            <a:ext cx="2478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8-way 4-bit Multiplexer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355848" y="2501976"/>
            <a:ext cx="24780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one of eight 4-bit register outputs from the register bank. Two instances provide operands Ra and Rb to the ALU simultaneously. Select driven by </a:t>
            </a:r>
            <a:r>
              <a:rPr lang="en-US" sz="950" dirty="0" err="1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read_sel_a</a:t>
            </a:r>
            <a:r>
              <a:rPr lang="en-US" sz="9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r>
              <a:rPr lang="en-US" sz="950" dirty="0" err="1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read_sel_b</a:t>
            </a:r>
            <a:r>
              <a:rPr lang="en-US" sz="9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from the decoder.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080760" y="2181936"/>
            <a:ext cx="2697480" cy="999835"/>
          </a:xfrm>
          <a:prstGeom prst="rect">
            <a:avLst/>
          </a:prstGeom>
          <a:solidFill>
            <a:srgbClr val="EEF3FA"/>
          </a:solidFill>
          <a:ln w="9525">
            <a:solidFill>
              <a:srgbClr val="C5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190488" y="2245944"/>
            <a:ext cx="2478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2-way 4-bit Multiplexer (Writeback)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190488" y="2501976"/>
            <a:ext cx="24780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Selects between ALU result and immediate data field d for register bank writeback. Controlled by </a:t>
            </a:r>
            <a:r>
              <a:rPr lang="en-US" sz="950" dirty="0" err="1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wb_sel_imm</a:t>
            </a:r>
            <a:r>
              <a:rPr lang="en-US" sz="9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from the instruction decoder; set high for MOVI, low for all ALU operations.</a:t>
            </a:r>
            <a:endParaRPr lang="en-US" sz="950" dirty="0"/>
          </a:p>
        </p:txBody>
      </p:sp>
      <p:sp>
        <p:nvSpPr>
          <p:cNvPr id="2" name="Shape 17">
            <a:extLst>
              <a:ext uri="{FF2B5EF4-FFF2-40B4-BE49-F238E27FC236}">
                <a16:creationId xmlns:a16="http://schemas.microsoft.com/office/drawing/2014/main" id="{D62AC499-82DD-9446-609B-D92A3B594963}"/>
              </a:ext>
            </a:extLst>
          </p:cNvPr>
          <p:cNvSpPr/>
          <p:nvPr/>
        </p:nvSpPr>
        <p:spPr>
          <a:xfrm>
            <a:off x="411480" y="3354893"/>
            <a:ext cx="2697480" cy="999835"/>
          </a:xfrm>
          <a:prstGeom prst="rect">
            <a:avLst/>
          </a:prstGeom>
          <a:solidFill>
            <a:srgbClr val="EEF3FA"/>
          </a:solidFill>
          <a:ln w="9525">
            <a:solidFill>
              <a:srgbClr val="C5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8">
            <a:extLst>
              <a:ext uri="{FF2B5EF4-FFF2-40B4-BE49-F238E27FC236}">
                <a16:creationId xmlns:a16="http://schemas.microsoft.com/office/drawing/2014/main" id="{E61BB547-0ACF-4E93-8E7E-F870C3708339}"/>
              </a:ext>
            </a:extLst>
          </p:cNvPr>
          <p:cNvSpPr/>
          <p:nvPr/>
        </p:nvSpPr>
        <p:spPr>
          <a:xfrm>
            <a:off x="521208" y="3418901"/>
            <a:ext cx="2478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4-bit Register (D Flip-Flop)</a:t>
            </a:r>
            <a:endParaRPr lang="en-US" sz="1050" dirty="0"/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4A665A12-997D-14E7-C736-03BF38225D7B}"/>
              </a:ext>
            </a:extLst>
          </p:cNvPr>
          <p:cNvSpPr/>
          <p:nvPr/>
        </p:nvSpPr>
        <p:spPr>
          <a:xfrm>
            <a:off x="521208" y="3674933"/>
            <a:ext cx="24780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4-bit D flip-flop with synchronous reset and write enable. Eight instances form the register bank; one instance serves as the PC register; another stores the slow-clock counter.</a:t>
            </a:r>
            <a:endParaRPr lang="en-US" sz="950" dirty="0"/>
          </a:p>
        </p:txBody>
      </p:sp>
      <p:sp>
        <p:nvSpPr>
          <p:cNvPr id="24" name="Shape 17">
            <a:extLst>
              <a:ext uri="{FF2B5EF4-FFF2-40B4-BE49-F238E27FC236}">
                <a16:creationId xmlns:a16="http://schemas.microsoft.com/office/drawing/2014/main" id="{2087CCBA-A72E-0F85-2E4E-0F9B0E98B9D8}"/>
              </a:ext>
            </a:extLst>
          </p:cNvPr>
          <p:cNvSpPr/>
          <p:nvPr/>
        </p:nvSpPr>
        <p:spPr>
          <a:xfrm>
            <a:off x="3246120" y="3354893"/>
            <a:ext cx="2697480" cy="1143682"/>
          </a:xfrm>
          <a:prstGeom prst="rect">
            <a:avLst/>
          </a:prstGeom>
          <a:solidFill>
            <a:srgbClr val="EEF3FA"/>
          </a:solidFill>
          <a:ln w="9525">
            <a:solidFill>
              <a:srgbClr val="C5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18">
            <a:extLst>
              <a:ext uri="{FF2B5EF4-FFF2-40B4-BE49-F238E27FC236}">
                <a16:creationId xmlns:a16="http://schemas.microsoft.com/office/drawing/2014/main" id="{8DE8A013-040D-EEED-6AEB-BA9C91EA6812}"/>
              </a:ext>
            </a:extLst>
          </p:cNvPr>
          <p:cNvSpPr/>
          <p:nvPr/>
        </p:nvSpPr>
        <p:spPr>
          <a:xfrm>
            <a:off x="3355848" y="3418901"/>
            <a:ext cx="2478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3-bit PC Register</a:t>
            </a:r>
            <a:endParaRPr lang="en-US" sz="1050" dirty="0"/>
          </a:p>
        </p:txBody>
      </p:sp>
      <p:sp>
        <p:nvSpPr>
          <p:cNvPr id="26" name="Text 19">
            <a:extLst>
              <a:ext uri="{FF2B5EF4-FFF2-40B4-BE49-F238E27FC236}">
                <a16:creationId xmlns:a16="http://schemas.microsoft.com/office/drawing/2014/main" id="{5113F2DB-16D2-A44F-1CCD-941C8FBE7DAE}"/>
              </a:ext>
            </a:extLst>
          </p:cNvPr>
          <p:cNvSpPr/>
          <p:nvPr/>
        </p:nvSpPr>
        <p:spPr>
          <a:xfrm>
            <a:off x="3355848" y="3674933"/>
            <a:ext cx="24780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3-bit variant of the D flip-flop register used to hold the current program counter address. D input driven by the PC MUX. Enable tied to the slow clock; reset tied to the </a:t>
            </a:r>
            <a:r>
              <a:rPr lang="en-US" sz="950" dirty="0" err="1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</a:t>
            </a:r>
            <a:r>
              <a:rPr lang="en-US" sz="9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button (</a:t>
            </a:r>
            <a:r>
              <a:rPr lang="en-US" sz="950" dirty="0" err="1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btnC</a:t>
            </a:r>
            <a:r>
              <a:rPr lang="en-US" sz="9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on </a:t>
            </a:r>
            <a:r>
              <a:rPr lang="en-US" sz="950" dirty="0" err="1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Basys</a:t>
            </a:r>
            <a:r>
              <a:rPr lang="en-US" sz="9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3.</a:t>
            </a:r>
            <a:endParaRPr lang="en-US" sz="950" dirty="0"/>
          </a:p>
        </p:txBody>
      </p:sp>
      <p:sp>
        <p:nvSpPr>
          <p:cNvPr id="27" name="Shape 17">
            <a:extLst>
              <a:ext uri="{FF2B5EF4-FFF2-40B4-BE49-F238E27FC236}">
                <a16:creationId xmlns:a16="http://schemas.microsoft.com/office/drawing/2014/main" id="{E19C815B-613A-6BD4-281F-259347C009E8}"/>
              </a:ext>
            </a:extLst>
          </p:cNvPr>
          <p:cNvSpPr/>
          <p:nvPr/>
        </p:nvSpPr>
        <p:spPr>
          <a:xfrm>
            <a:off x="6080760" y="3354892"/>
            <a:ext cx="2697480" cy="1523431"/>
          </a:xfrm>
          <a:prstGeom prst="rect">
            <a:avLst/>
          </a:prstGeom>
          <a:solidFill>
            <a:srgbClr val="EEF3FA"/>
          </a:solidFill>
          <a:ln w="9525">
            <a:solidFill>
              <a:srgbClr val="C5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18">
            <a:extLst>
              <a:ext uri="{FF2B5EF4-FFF2-40B4-BE49-F238E27FC236}">
                <a16:creationId xmlns:a16="http://schemas.microsoft.com/office/drawing/2014/main" id="{40B8BAF9-09AB-08A7-3192-1AD356840583}"/>
              </a:ext>
            </a:extLst>
          </p:cNvPr>
          <p:cNvSpPr/>
          <p:nvPr/>
        </p:nvSpPr>
        <p:spPr>
          <a:xfrm>
            <a:off x="6190488" y="3418901"/>
            <a:ext cx="2478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Unit</a:t>
            </a:r>
            <a:endParaRPr lang="en-US" sz="1050" dirty="0"/>
          </a:p>
        </p:txBody>
      </p:sp>
      <p:sp>
        <p:nvSpPr>
          <p:cNvPr id="29" name="Text 19">
            <a:extLst>
              <a:ext uri="{FF2B5EF4-FFF2-40B4-BE49-F238E27FC236}">
                <a16:creationId xmlns:a16="http://schemas.microsoft.com/office/drawing/2014/main" id="{39EC380D-21F1-0E9D-9177-E714BD95DAED}"/>
              </a:ext>
            </a:extLst>
          </p:cNvPr>
          <p:cNvSpPr/>
          <p:nvPr/>
        </p:nvSpPr>
        <p:spPr>
          <a:xfrm>
            <a:off x="6190488" y="3674933"/>
            <a:ext cx="24780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Clocked register capturing output flags from the ALU. Optimized version stores zero (Z) and overflow (V) from ADD_SUB_4bit. Extended version additionally stores GT, EQ, and LT comparison flags from the Comparator. </a:t>
            </a:r>
            <a:r>
              <a:rPr lang="en-US" sz="950" dirty="0" err="1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flag_en</a:t>
            </a:r>
            <a:r>
              <a:rPr lang="en-US" sz="9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input (extended only) prevents MOVI and JZR from inadvertently overwriting flag values between operations.</a:t>
            </a:r>
            <a:endParaRPr lang="en-US" sz="950" dirty="0"/>
          </a:p>
        </p:txBody>
      </p:sp>
      <p:sp>
        <p:nvSpPr>
          <p:cNvPr id="30" name="Text 0">
            <a:extLst>
              <a:ext uri="{FF2B5EF4-FFF2-40B4-BE49-F238E27FC236}">
                <a16:creationId xmlns:a16="http://schemas.microsoft.com/office/drawing/2014/main" id="{47C920EB-D94E-85AA-FDC2-58F5240BE5C2}"/>
              </a:ext>
            </a:extLst>
          </p:cNvPr>
          <p:cNvSpPr/>
          <p:nvPr/>
        </p:nvSpPr>
        <p:spPr>
          <a:xfrm>
            <a:off x="411480" y="13716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00" b="1" dirty="0">
                <a:solidFill>
                  <a:srgbClr val="1A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Fundamental Building Blocks — Overview</a:t>
            </a:r>
            <a:endParaRPr lang="en-US" sz="26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89611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4-bit Ripple Carry Adder (RCA_4bit)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252728"/>
            <a:ext cx="3931920" cy="5863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RCA_4bit is the core arithmetic unit responsible for the ADD and SUB operations. It is constructed from four 1-bit Full Adders.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11480" y="3505905"/>
            <a:ext cx="3931920" cy="1175277"/>
          </a:xfrm>
          <a:prstGeom prst="rect">
            <a:avLst/>
          </a:prstGeom>
          <a:solidFill>
            <a:srgbClr val="F4F4F4"/>
          </a:solidFill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3608103"/>
            <a:ext cx="3657600" cy="970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entity RCA_4bit is 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Port ( A : in STD_LOGIC_VECTOR (3 </a:t>
            </a:r>
            <a:r>
              <a:rPr lang="en-US" sz="900" dirty="0" err="1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downto</a:t>
            </a:r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0); 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B : in STD_LOGIC_VECTOR (3 </a:t>
            </a:r>
            <a:r>
              <a:rPr lang="en-US" sz="900" dirty="0" err="1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downto</a:t>
            </a:r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0); 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r>
              <a:rPr lang="en-US" sz="900" dirty="0" err="1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C_in</a:t>
            </a:r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: in STD_LOGIC; 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 : out STD_LOGIC_VECTOR (3 </a:t>
            </a:r>
            <a:r>
              <a:rPr lang="en-US" sz="900" dirty="0" err="1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downto</a:t>
            </a:r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0); 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r>
              <a:rPr lang="en-US" sz="900" dirty="0" err="1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C_out</a:t>
            </a:r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: out STD_LOGIC); 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end RCA_4bit; 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17720" y="868680"/>
            <a:ext cx="0" cy="4206240"/>
          </a:xfrm>
          <a:prstGeom prst="line">
            <a:avLst/>
          </a:prstGeom>
          <a:noFill/>
          <a:ln w="1143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0">
            <a:extLst>
              <a:ext uri="{FF2B5EF4-FFF2-40B4-BE49-F238E27FC236}">
                <a16:creationId xmlns:a16="http://schemas.microsoft.com/office/drawing/2014/main" id="{B8D24766-46D8-AC13-74BE-D9DABE59915A}"/>
              </a:ext>
            </a:extLst>
          </p:cNvPr>
          <p:cNvSpPr/>
          <p:nvPr/>
        </p:nvSpPr>
        <p:spPr>
          <a:xfrm>
            <a:off x="411480" y="13716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00" b="1" dirty="0">
                <a:solidFill>
                  <a:srgbClr val="1A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Fundamental Building Blocks — Adders</a:t>
            </a:r>
          </a:p>
        </p:txBody>
      </p:sp>
      <p:sp>
        <p:nvSpPr>
          <p:cNvPr id="20" name="Text 11"/>
          <p:cNvSpPr/>
          <p:nvPr/>
        </p:nvSpPr>
        <p:spPr>
          <a:xfrm>
            <a:off x="457200" y="1918107"/>
            <a:ext cx="393192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(ctrl=0): S = A + B with carry-out.</a:t>
            </a:r>
            <a:endParaRPr lang="en-US" sz="11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 (ctrl=1): S = A + ~B + 1 via 2's complement; Cout used as borrow indicator.</a:t>
            </a:r>
            <a:endParaRPr lang="en-US" sz="11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 ripples bit-by-bit: simple and area-efficient at low clock speeds.</a:t>
            </a:r>
            <a:endParaRPr lang="en-US" sz="11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the foundation of ADD_SUB_4bit and the 3-bit PC adder.</a:t>
            </a:r>
            <a:endParaRPr lang="en-US" sz="1150" dirty="0"/>
          </a:p>
        </p:txBody>
      </p:sp>
      <p:sp>
        <p:nvSpPr>
          <p:cNvPr id="21" name="Text 1"/>
          <p:cNvSpPr/>
          <p:nvPr/>
        </p:nvSpPr>
        <p:spPr>
          <a:xfrm>
            <a:off x="4845294" y="896112"/>
            <a:ext cx="246341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3-bit Adder (PC Increment)</a:t>
            </a:r>
            <a:endParaRPr lang="en-US" sz="1400" dirty="0"/>
          </a:p>
        </p:txBody>
      </p:sp>
      <p:sp>
        <p:nvSpPr>
          <p:cNvPr id="22" name="Text 2"/>
          <p:cNvSpPr/>
          <p:nvPr/>
        </p:nvSpPr>
        <p:spPr>
          <a:xfrm>
            <a:off x="4845294" y="1252727"/>
            <a:ext cx="3931919" cy="4173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specialised version of the RCA designed to compute the next sequential instruction address (PC + 1).</a:t>
            </a:r>
            <a:endParaRPr lang="en-US" sz="1150" dirty="0"/>
          </a:p>
        </p:txBody>
      </p:sp>
      <p:sp>
        <p:nvSpPr>
          <p:cNvPr id="23" name="Shape 6"/>
          <p:cNvSpPr/>
          <p:nvPr/>
        </p:nvSpPr>
        <p:spPr>
          <a:xfrm>
            <a:off x="4845294" y="3394677"/>
            <a:ext cx="3931920" cy="1538988"/>
          </a:xfrm>
          <a:prstGeom prst="rect">
            <a:avLst/>
          </a:prstGeom>
          <a:solidFill>
            <a:srgbClr val="F4F4F4"/>
          </a:solidFill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7"/>
          <p:cNvSpPr/>
          <p:nvPr/>
        </p:nvSpPr>
        <p:spPr>
          <a:xfrm>
            <a:off x="4982454" y="3486116"/>
            <a:ext cx="3657600" cy="1447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 Adder_3bit is 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Port ( A : in STD_LOGIC_VECTOR (2 </a:t>
            </a:r>
            <a:r>
              <a:rPr lang="en-US" sz="900" dirty="0" err="1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downto</a:t>
            </a:r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0); 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Y : out STD_LOGIC_VECTOR (2 </a:t>
            </a:r>
            <a:r>
              <a:rPr lang="en-US" sz="900" dirty="0" err="1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downto</a:t>
            </a:r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0)); 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 Adder_3bit;</a:t>
            </a:r>
          </a:p>
          <a:p>
            <a:pPr marL="0" indent="0">
              <a:buNone/>
            </a:pPr>
            <a:endParaRPr lang="en-US" sz="900" dirty="0">
              <a:solidFill>
                <a:srgbClr val="212121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 Behavioral of Adder_3bit is</a:t>
            </a:r>
          </a:p>
          <a:p>
            <a:pPr marL="0" indent="0">
              <a:buNone/>
            </a:pPr>
            <a:endParaRPr lang="en-US" sz="900" dirty="0">
              <a:solidFill>
                <a:srgbClr val="212121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Y &lt;= </a:t>
            </a:r>
            <a:r>
              <a:rPr lang="en-US" sz="900" dirty="0" err="1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std_logic_vector</a:t>
            </a:r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(unsigned(A)+1);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 Behavioral;</a:t>
            </a:r>
          </a:p>
          <a:p>
            <a:pPr marL="0" indent="0">
              <a:buNone/>
            </a:pPr>
            <a:endParaRPr lang="en-US" sz="900" dirty="0">
              <a:solidFill>
                <a:srgbClr val="212121"/>
              </a:solidFill>
              <a:latin typeface="Courier New" pitchFamily="34" charset="0"/>
              <a:cs typeface="Courier New" pitchFamily="34" charset="-120"/>
            </a:endParaRPr>
          </a:p>
          <a:p>
            <a:pPr marL="0" indent="0">
              <a:buNone/>
            </a:pPr>
            <a:endParaRPr lang="en-US" sz="900" dirty="0"/>
          </a:p>
        </p:txBody>
      </p:sp>
      <p:sp>
        <p:nvSpPr>
          <p:cNvPr id="25" name="Text 11"/>
          <p:cNvSpPr/>
          <p:nvPr/>
        </p:nvSpPr>
        <p:spPr>
          <a:xfrm>
            <a:off x="4845293" y="1706649"/>
            <a:ext cx="393192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Computes PC + 1 combinational on every clock cycle.</a:t>
            </a:r>
            <a:endParaRPr lang="en-US" sz="11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passed to the 2-way 3-bit MUX alongside the jump target address d.</a:t>
            </a:r>
            <a:endParaRPr lang="en-US" sz="11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MUX selects PC + 1 for normal sequential execution; selects d when JZR branch is taken (pc_load AND zero_flag = 1).</a:t>
            </a:r>
            <a:endParaRPr lang="en-US" sz="11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structurally using three cascaded Full Adder instances consistent with the rest of the datapath.</a:t>
            </a:r>
            <a:endParaRPr lang="en-US" sz="11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89611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3-to-8 Decoder (Register Select)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252728"/>
            <a:ext cx="40233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a 3-bit register address to 8 unique 'Write Enable' signals for the register bank.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48640" y="1658475"/>
            <a:ext cx="3931920" cy="5152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with the </a:t>
            </a:r>
            <a:r>
              <a:rPr lang="en-US" sz="1150" dirty="0" err="1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write_en</a:t>
            </a: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signal to prevent accidental writes.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only one register is active at any time.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199" y="2403712"/>
            <a:ext cx="3931920" cy="2242602"/>
          </a:xfrm>
          <a:prstGeom prst="rect">
            <a:avLst/>
          </a:prstGeom>
          <a:solidFill>
            <a:srgbClr val="F4F4F4"/>
          </a:solidFill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94360" y="2512622"/>
            <a:ext cx="3336194" cy="2085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</a:t>
            </a:r>
            <a:r>
              <a:rPr lang="en-US" sz="900" dirty="0" err="1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'1') then</a:t>
            </a:r>
          </a:p>
          <a:p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</a:t>
            </a:r>
            <a:r>
              <a:rPr lang="en-US" sz="900" dirty="0" err="1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reg_sel</a:t>
            </a:r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is</a:t>
            </a:r>
          </a:p>
          <a:p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when "000" =&gt; y &lt;= "00000001";</a:t>
            </a:r>
          </a:p>
          <a:p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when "001" =&gt; y &lt;= "00000010";</a:t>
            </a:r>
          </a:p>
          <a:p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when "010" =&gt; y &lt;= "00000100";</a:t>
            </a:r>
          </a:p>
          <a:p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when "011" =&gt; y &lt;= "00001000";</a:t>
            </a:r>
          </a:p>
          <a:p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when "100" =&gt; y &lt;= "00010000";</a:t>
            </a:r>
          </a:p>
          <a:p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when "101" =&gt; y &lt;= "00100000";</a:t>
            </a:r>
          </a:p>
          <a:p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when "110" =&gt; y &lt;= "01000000";</a:t>
            </a:r>
          </a:p>
          <a:p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when "111" =&gt; y &lt;= "10000000";</a:t>
            </a:r>
          </a:p>
          <a:p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when others =&gt; y &lt;= "00000000";</a:t>
            </a:r>
          </a:p>
          <a:p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end case;        </a:t>
            </a:r>
          </a:p>
          <a:p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        </a:t>
            </a:r>
          </a:p>
          <a:p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y &lt;= "00000000";        </a:t>
            </a:r>
          </a:p>
          <a:p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 if;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0" y="868680"/>
            <a:ext cx="0" cy="4160520"/>
          </a:xfrm>
          <a:prstGeom prst="line">
            <a:avLst/>
          </a:prstGeom>
          <a:noFill/>
          <a:ln w="1143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54880" y="89611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to Output Mapping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1696693"/>
              </p:ext>
            </p:extLst>
          </p:nvPr>
        </p:nvGraphicFramePr>
        <p:xfrm>
          <a:off x="4754880" y="1252728"/>
          <a:ext cx="3931920" cy="3044952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Address (reg_sel)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Output Bit 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Register Enabled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Bit 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R0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001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Bit 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R1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010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Bit 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R2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011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Bit 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R3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100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Bit 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R4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101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Bit 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R5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110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Bit 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R6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111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Bit 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R7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3" name="Text 0">
            <a:extLst>
              <a:ext uri="{FF2B5EF4-FFF2-40B4-BE49-F238E27FC236}">
                <a16:creationId xmlns:a16="http://schemas.microsoft.com/office/drawing/2014/main" id="{3F66F7EC-AFFE-1A75-DDFD-C79E43F6F459}"/>
              </a:ext>
            </a:extLst>
          </p:cNvPr>
          <p:cNvSpPr/>
          <p:nvPr/>
        </p:nvSpPr>
        <p:spPr>
          <a:xfrm>
            <a:off x="411480" y="13716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00" b="1" dirty="0">
                <a:solidFill>
                  <a:srgbClr val="1A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Fundamental Building Blocks — Decoders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89611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8-way 4-bit Multiplexer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332294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Acts as the reading interface for the Register Bank, allowing the processor to access Ra and Rb values simultaneously.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617720" y="868680"/>
            <a:ext cx="0" cy="4160520"/>
          </a:xfrm>
          <a:prstGeom prst="line">
            <a:avLst/>
          </a:prstGeom>
          <a:noFill/>
          <a:ln w="1143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1795908"/>
            <a:ext cx="39319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independent 8-to-1 mux instances share the same register bank outputs but use different select signals (read_sel_a and read_sel_b).</a:t>
            </a:r>
            <a:endParaRPr lang="en-US" sz="11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 feeds ALU input A; Rb feeds ALU input B — both driven in the same clock cycle.</a:t>
            </a:r>
            <a:endParaRPr lang="en-US" sz="11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using a with-select concurrent signal assignment for purely combinational operation.</a:t>
            </a:r>
            <a:endParaRPr lang="en-US" sz="11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latency: register values appear at ALU inputs within the same clock period as the decode stage.</a:t>
            </a:r>
            <a:endParaRPr lang="en-US" sz="1150" dirty="0"/>
          </a:p>
        </p:txBody>
      </p:sp>
      <p:sp>
        <p:nvSpPr>
          <p:cNvPr id="16" name="Text 1">
            <a:extLst>
              <a:ext uri="{FF2B5EF4-FFF2-40B4-BE49-F238E27FC236}">
                <a16:creationId xmlns:a16="http://schemas.microsoft.com/office/drawing/2014/main" id="{068EFC8D-6232-1A5C-7CE2-1ABA6B7DDD32}"/>
              </a:ext>
            </a:extLst>
          </p:cNvPr>
          <p:cNvSpPr/>
          <p:nvPr/>
        </p:nvSpPr>
        <p:spPr>
          <a:xfrm>
            <a:off x="4754880" y="89611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2-way 3-bit Multiplexer (Jump Select)</a:t>
            </a:r>
            <a:endParaRPr lang="en-US" sz="1400" dirty="0"/>
          </a:p>
        </p:txBody>
      </p:sp>
      <p:sp>
        <p:nvSpPr>
          <p:cNvPr id="17" name="Text 2">
            <a:extLst>
              <a:ext uri="{FF2B5EF4-FFF2-40B4-BE49-F238E27FC236}">
                <a16:creationId xmlns:a16="http://schemas.microsoft.com/office/drawing/2014/main" id="{EC617E85-4CFB-9692-B7E0-834AC6E058A2}"/>
              </a:ext>
            </a:extLst>
          </p:cNvPr>
          <p:cNvSpPr/>
          <p:nvPr/>
        </p:nvSpPr>
        <p:spPr>
          <a:xfrm>
            <a:off x="4777739" y="1213422"/>
            <a:ext cx="365759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Determines the next source for the Program Counter (PC).</a:t>
            </a:r>
            <a:endParaRPr lang="en-US" sz="1150" dirty="0"/>
          </a:p>
        </p:txBody>
      </p:sp>
      <p:sp>
        <p:nvSpPr>
          <p:cNvPr id="21" name="Text 11">
            <a:extLst>
              <a:ext uri="{FF2B5EF4-FFF2-40B4-BE49-F238E27FC236}">
                <a16:creationId xmlns:a16="http://schemas.microsoft.com/office/drawing/2014/main" id="{FFA827C4-7CB1-925A-F5AA-2377570AECAA}"/>
              </a:ext>
            </a:extLst>
          </p:cNvPr>
          <p:cNvSpPr/>
          <p:nvPr/>
        </p:nvSpPr>
        <p:spPr>
          <a:xfrm>
            <a:off x="4777739" y="1506030"/>
            <a:ext cx="3931920" cy="9148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A : PC + 1 (normal sequential execution). </a:t>
            </a:r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B : Jump Address d extracted from instruction bits [2:0]. </a:t>
            </a:r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; Driven by </a:t>
            </a:r>
            <a:r>
              <a:rPr lang="en-US" sz="1150" dirty="0" err="1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pc_load</a:t>
            </a: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signal from the instruction decoder.</a:t>
            </a:r>
            <a:endParaRPr lang="en-US" sz="1150" dirty="0"/>
          </a:p>
        </p:txBody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7CCE638A-A51C-A5AD-1AB1-E2E07C7136DB}"/>
              </a:ext>
            </a:extLst>
          </p:cNvPr>
          <p:cNvSpPr/>
          <p:nvPr/>
        </p:nvSpPr>
        <p:spPr>
          <a:xfrm>
            <a:off x="4754880" y="2505456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2-way 4-bit Multiplexer (Writeback)</a:t>
            </a:r>
            <a:endParaRPr lang="en-US" sz="1400" dirty="0"/>
          </a:p>
        </p:txBody>
      </p:sp>
      <p:sp>
        <p:nvSpPr>
          <p:cNvPr id="23" name="Text 11">
            <a:extLst>
              <a:ext uri="{FF2B5EF4-FFF2-40B4-BE49-F238E27FC236}">
                <a16:creationId xmlns:a16="http://schemas.microsoft.com/office/drawing/2014/main" id="{3918334A-A9B1-B302-5CAC-474112D4D1D5}"/>
              </a:ext>
            </a:extLst>
          </p:cNvPr>
          <p:cNvSpPr/>
          <p:nvPr/>
        </p:nvSpPr>
        <p:spPr>
          <a:xfrm>
            <a:off x="4754880" y="286207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Selects the source of data to be written back into the Register Bank.</a:t>
            </a:r>
            <a:endParaRPr lang="en-US" sz="1150" dirty="0"/>
          </a:p>
        </p:txBody>
      </p:sp>
      <p:sp>
        <p:nvSpPr>
          <p:cNvPr id="27" name="Text 11">
            <a:extLst>
              <a:ext uri="{FF2B5EF4-FFF2-40B4-BE49-F238E27FC236}">
                <a16:creationId xmlns:a16="http://schemas.microsoft.com/office/drawing/2014/main" id="{CCC60942-0C7D-7DA8-99BE-8A90D93B3475}"/>
              </a:ext>
            </a:extLst>
          </p:cNvPr>
          <p:cNvSpPr/>
          <p:nvPr/>
        </p:nvSpPr>
        <p:spPr>
          <a:xfrm>
            <a:off x="4777739" y="3239296"/>
            <a:ext cx="3931920" cy="7738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0 : ALU Result (for arithmetic / logic instructions). </a:t>
            </a:r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1 : Immediate Value d (for MOVI instruction). </a:t>
            </a:r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: </a:t>
            </a:r>
            <a:r>
              <a:rPr lang="en-US" sz="1150" dirty="0" err="1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wb_sel_imm</a:t>
            </a: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signal from the instruction decoder.</a:t>
            </a:r>
            <a:endParaRPr lang="en-US" sz="1150" dirty="0"/>
          </a:p>
        </p:txBody>
      </p:sp>
      <p:sp>
        <p:nvSpPr>
          <p:cNvPr id="7" name="Text 0">
            <a:extLst>
              <a:ext uri="{FF2B5EF4-FFF2-40B4-BE49-F238E27FC236}">
                <a16:creationId xmlns:a16="http://schemas.microsoft.com/office/drawing/2014/main" id="{B281F01C-696F-9342-AAA8-0407947C730D}"/>
              </a:ext>
            </a:extLst>
          </p:cNvPr>
          <p:cNvSpPr/>
          <p:nvPr/>
        </p:nvSpPr>
        <p:spPr>
          <a:xfrm>
            <a:off x="411480" y="13716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00" b="1" dirty="0">
                <a:solidFill>
                  <a:srgbClr val="1A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Fundamental Building Blocks — Multiplexers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3716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Fundamental Building Blocks — Registers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89997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4-bit Register (D Flip-Flop)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11480" y="1019181"/>
            <a:ext cx="41148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4-bit D flip-flop with synchronous reset and enable.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rising clock edge: if reset='1' → Q ← 0000; else if enable='1' → Q ← D.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instances form the register bank; one instance is the PC register.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instance stores the slow-clock counter for frequency division.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892040" y="689997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3-bit PC Register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892040" y="1019181"/>
            <a:ext cx="41148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design to the 4-bit register but 3 bits wide to address 8 ROM locations.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input driven by PC MUX output (either PC+1 or jump target d).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tied to slow clock; reset tied to the centre button (btnC) on Basys 3.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 flipH="1">
            <a:off x="4709160" y="822960"/>
            <a:ext cx="0" cy="3005237"/>
          </a:xfrm>
          <a:prstGeom prst="line">
            <a:avLst/>
          </a:prstGeom>
          <a:noFill/>
          <a:ln w="1016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0">
            <a:extLst>
              <a:ext uri="{FF2B5EF4-FFF2-40B4-BE49-F238E27FC236}">
                <a16:creationId xmlns:a16="http://schemas.microsoft.com/office/drawing/2014/main" id="{6EE0BEB2-7C7B-9C8C-D1B3-4DACB9E8D86E}"/>
              </a:ext>
            </a:extLst>
          </p:cNvPr>
          <p:cNvSpPr/>
          <p:nvPr/>
        </p:nvSpPr>
        <p:spPr>
          <a:xfrm>
            <a:off x="4892040" y="2317629"/>
            <a:ext cx="3840480" cy="1127760"/>
          </a:xfrm>
          <a:prstGeom prst="rect">
            <a:avLst/>
          </a:prstGeom>
          <a:solidFill>
            <a:srgbClr val="F4F4F4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BA32C266-621F-A503-BA92-2EC6227DCAE1}"/>
              </a:ext>
            </a:extLst>
          </p:cNvPr>
          <p:cNvSpPr/>
          <p:nvPr/>
        </p:nvSpPr>
        <p:spPr>
          <a:xfrm>
            <a:off x="5029200" y="2345061"/>
            <a:ext cx="3611880" cy="112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 </a:t>
            </a:r>
            <a:r>
              <a:rPr lang="en-US" sz="900" dirty="0" err="1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pc_register</a:t>
            </a:r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is</a:t>
            </a:r>
          </a:p>
          <a:p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Port ( </a:t>
            </a:r>
            <a:r>
              <a:rPr lang="en-US" sz="900" dirty="0" err="1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clk</a:t>
            </a:r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: in STD_LOGIC;</a:t>
            </a:r>
          </a:p>
          <a:p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enable : in STD_LOGIC;</a:t>
            </a:r>
          </a:p>
          <a:p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reset : in STD_LOGIC;</a:t>
            </a:r>
          </a:p>
          <a:p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D : in STD_LOGIC_VECTOR (2 </a:t>
            </a:r>
            <a:r>
              <a:rPr lang="en-US" sz="900" dirty="0" err="1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downto</a:t>
            </a:r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0);</a:t>
            </a:r>
          </a:p>
          <a:p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Q : out STD_LOGIC_VECTOR (2 </a:t>
            </a:r>
            <a:r>
              <a:rPr lang="en-US" sz="900" dirty="0" err="1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downto</a:t>
            </a:r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0));</a:t>
            </a:r>
          </a:p>
          <a:p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 </a:t>
            </a:r>
            <a:r>
              <a:rPr lang="en-US" sz="900" dirty="0" err="1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pc_register</a:t>
            </a:r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00" dirty="0"/>
          </a:p>
        </p:txBody>
      </p:sp>
      <p:sp>
        <p:nvSpPr>
          <p:cNvPr id="20" name="Shape 10">
            <a:extLst>
              <a:ext uri="{FF2B5EF4-FFF2-40B4-BE49-F238E27FC236}">
                <a16:creationId xmlns:a16="http://schemas.microsoft.com/office/drawing/2014/main" id="{891CC189-7DDE-AAB2-F776-4DF4ED501EB9}"/>
              </a:ext>
            </a:extLst>
          </p:cNvPr>
          <p:cNvSpPr/>
          <p:nvPr/>
        </p:nvSpPr>
        <p:spPr>
          <a:xfrm>
            <a:off x="411480" y="2438581"/>
            <a:ext cx="3840480" cy="1315211"/>
          </a:xfrm>
          <a:prstGeom prst="rect">
            <a:avLst/>
          </a:prstGeom>
          <a:solidFill>
            <a:srgbClr val="F4F4F4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1">
            <a:extLst>
              <a:ext uri="{FF2B5EF4-FFF2-40B4-BE49-F238E27FC236}">
                <a16:creationId xmlns:a16="http://schemas.microsoft.com/office/drawing/2014/main" id="{FF2C3EDB-8137-4693-5593-60A38F079F70}"/>
              </a:ext>
            </a:extLst>
          </p:cNvPr>
          <p:cNvSpPr/>
          <p:nvPr/>
        </p:nvSpPr>
        <p:spPr>
          <a:xfrm>
            <a:off x="548640" y="2466013"/>
            <a:ext cx="3611880" cy="120091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 register_4bit is</a:t>
            </a:r>
          </a:p>
          <a:p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Port ( </a:t>
            </a:r>
            <a:r>
              <a:rPr lang="en-US" sz="900" dirty="0" err="1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clk</a:t>
            </a:r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: in STD_LOGIC;</a:t>
            </a:r>
          </a:p>
          <a:p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reset : in STD_LOGIC;</a:t>
            </a:r>
          </a:p>
          <a:p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enable : in STD_LOGIC;</a:t>
            </a:r>
          </a:p>
          <a:p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we : in STD_LOGIC;</a:t>
            </a:r>
          </a:p>
          <a:p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D : in STD_LOGIC_VECTOR (3 </a:t>
            </a:r>
            <a:r>
              <a:rPr lang="en-US" sz="900" dirty="0" err="1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downto</a:t>
            </a:r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0);</a:t>
            </a:r>
          </a:p>
          <a:p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Q : out STD_LOGIC_VECTOR (3 </a:t>
            </a:r>
            <a:r>
              <a:rPr lang="en-US" sz="900" dirty="0" err="1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downto</a:t>
            </a:r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0));</a:t>
            </a:r>
          </a:p>
          <a:p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 register_4bit;</a:t>
            </a:r>
            <a:endParaRPr lang="en-US" sz="900" dirty="0"/>
          </a:p>
        </p:txBody>
      </p:sp>
      <p:sp>
        <p:nvSpPr>
          <p:cNvPr id="3" name="Text 10">
            <a:extLst>
              <a:ext uri="{FF2B5EF4-FFF2-40B4-BE49-F238E27FC236}">
                <a16:creationId xmlns:a16="http://schemas.microsoft.com/office/drawing/2014/main" id="{73976DD6-496C-DC64-03DD-44625D8DD85D}"/>
              </a:ext>
            </a:extLst>
          </p:cNvPr>
          <p:cNvSpPr/>
          <p:nvPr/>
        </p:nvSpPr>
        <p:spPr>
          <a:xfrm>
            <a:off x="4892040" y="3629871"/>
            <a:ext cx="270225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Register Behaviour</a:t>
            </a:r>
            <a:endParaRPr lang="en-US" sz="1400" dirty="0"/>
          </a:p>
        </p:txBody>
      </p:sp>
      <p:graphicFrame>
        <p:nvGraphicFramePr>
          <p:cNvPr id="9" name="Table 0">
            <a:extLst>
              <a:ext uri="{FF2B5EF4-FFF2-40B4-BE49-F238E27FC236}">
                <a16:creationId xmlns:a16="http://schemas.microsoft.com/office/drawing/2014/main" id="{80EC148E-B4D2-92A1-B4E3-B95C6E6C15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2087442"/>
              </p:ext>
            </p:extLst>
          </p:nvPr>
        </p:nvGraphicFramePr>
        <p:xfrm>
          <a:off x="4315080" y="3963349"/>
          <a:ext cx="4691760" cy="1097280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14075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47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894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Condition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clk edge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Q output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reset = '1'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Rising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0000 / 000 (cleared)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enable = '1', reset = '0'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Rising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D (data loaded)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enable = '0', reset = '0'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Rising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Q unchanged (hold)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14C4C1-40BB-B27E-75EB-D84669652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EAFCAF8-F38A-3AE4-2968-03EB412C8C32}"/>
              </a:ext>
            </a:extLst>
          </p:cNvPr>
          <p:cNvSpPr/>
          <p:nvPr/>
        </p:nvSpPr>
        <p:spPr>
          <a:xfrm>
            <a:off x="411480" y="13716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Fundamental Building Blocks — Flags</a:t>
            </a:r>
            <a:endParaRPr lang="en-US" sz="26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1EB7B15E-9CA2-B641-8D60-A6786FAE3152}"/>
              </a:ext>
            </a:extLst>
          </p:cNvPr>
          <p:cNvSpPr/>
          <p:nvPr/>
        </p:nvSpPr>
        <p:spPr>
          <a:xfrm>
            <a:off x="4709160" y="822960"/>
            <a:ext cx="0" cy="4297680"/>
          </a:xfrm>
          <a:prstGeom prst="line">
            <a:avLst/>
          </a:prstGeom>
          <a:noFill/>
          <a:ln w="1016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EF45E4D0-B290-37E8-64F6-F116244C75F3}"/>
              </a:ext>
            </a:extLst>
          </p:cNvPr>
          <p:cNvSpPr/>
          <p:nvPr/>
        </p:nvSpPr>
        <p:spPr>
          <a:xfrm>
            <a:off x="411480" y="84124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Unit Optimized / Extended</a:t>
            </a:r>
            <a:endParaRPr lang="en-US" sz="13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F3E97058-09FD-863A-149C-AA827F999DCE}"/>
              </a:ext>
            </a:extLst>
          </p:cNvPr>
          <p:cNvSpPr/>
          <p:nvPr/>
        </p:nvSpPr>
        <p:spPr>
          <a:xfrm>
            <a:off x="411480" y="1170432"/>
            <a:ext cx="38404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Clocked register capturing output flags from the ALU.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Optimized: stores zero (Z) and overflow (V) from ADD_SUB_4bit.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Extended: additionally stores GT, EQ, LT from the Comparator.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 err="1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flag_en</a:t>
            </a: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input (extended only) controls when flags are updated — prevents MOVI/JZR from inadvertently overwriting flags.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held stable between updates, available to the decoder each cycle.</a:t>
            </a:r>
            <a:endParaRPr lang="en-US" sz="11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62C27470-E9B3-C059-E36F-4C6624523EB8}"/>
              </a:ext>
            </a:extLst>
          </p:cNvPr>
          <p:cNvSpPr/>
          <p:nvPr/>
        </p:nvSpPr>
        <p:spPr>
          <a:xfrm>
            <a:off x="411480" y="309067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Entity (Optimized)</a:t>
            </a:r>
            <a:endParaRPr lang="en-US" sz="13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E68BDB21-4B36-9D7A-86FF-1C43CE146AD0}"/>
              </a:ext>
            </a:extLst>
          </p:cNvPr>
          <p:cNvSpPr/>
          <p:nvPr/>
        </p:nvSpPr>
        <p:spPr>
          <a:xfrm>
            <a:off x="411480" y="3410712"/>
            <a:ext cx="3840480" cy="1554480"/>
          </a:xfrm>
          <a:prstGeom prst="rect">
            <a:avLst/>
          </a:prstGeom>
          <a:solidFill>
            <a:srgbClr val="F4F4F4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08E89DF7-7A24-6BD6-1F4F-110B231694F9}"/>
              </a:ext>
            </a:extLst>
          </p:cNvPr>
          <p:cNvSpPr/>
          <p:nvPr/>
        </p:nvSpPr>
        <p:spPr>
          <a:xfrm>
            <a:off x="548640" y="3438144"/>
            <a:ext cx="361188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 flags is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Port 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clk, enable, reset : in STD_LOGIC;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flag_en   : in STD_LOGIC;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alu_zero  : in STD_LOGIC;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alu_overflow : in STD_LOGIC;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Z         : out STD_LOGIC;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         : out STD_LOGIC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 flags;</a:t>
            </a:r>
            <a:endParaRPr lang="en-US" sz="900" dirty="0"/>
          </a:p>
        </p:txBody>
      </p:sp>
      <p:sp>
        <p:nvSpPr>
          <p:cNvPr id="18" name="Text 9">
            <a:extLst>
              <a:ext uri="{FF2B5EF4-FFF2-40B4-BE49-F238E27FC236}">
                <a16:creationId xmlns:a16="http://schemas.microsoft.com/office/drawing/2014/main" id="{A35336D6-6BB5-7084-D841-5FFBE4CC328E}"/>
              </a:ext>
            </a:extLst>
          </p:cNvPr>
          <p:cNvSpPr/>
          <p:nvPr/>
        </p:nvSpPr>
        <p:spPr>
          <a:xfrm>
            <a:off x="4991100" y="84124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Entity (Extended)</a:t>
            </a:r>
            <a:endParaRPr lang="en-US" sz="1300" dirty="0"/>
          </a:p>
        </p:txBody>
      </p:sp>
      <p:sp>
        <p:nvSpPr>
          <p:cNvPr id="19" name="Shape 10">
            <a:extLst>
              <a:ext uri="{FF2B5EF4-FFF2-40B4-BE49-F238E27FC236}">
                <a16:creationId xmlns:a16="http://schemas.microsoft.com/office/drawing/2014/main" id="{B01D83A6-6F31-EBDA-3798-3A5B017E3900}"/>
              </a:ext>
            </a:extLst>
          </p:cNvPr>
          <p:cNvSpPr/>
          <p:nvPr/>
        </p:nvSpPr>
        <p:spPr>
          <a:xfrm>
            <a:off x="4991100" y="1161288"/>
            <a:ext cx="3840480" cy="2641092"/>
          </a:xfrm>
          <a:prstGeom prst="rect">
            <a:avLst/>
          </a:prstGeom>
          <a:solidFill>
            <a:srgbClr val="F4F4F4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1">
            <a:extLst>
              <a:ext uri="{FF2B5EF4-FFF2-40B4-BE49-F238E27FC236}">
                <a16:creationId xmlns:a16="http://schemas.microsoft.com/office/drawing/2014/main" id="{CFD00CEB-71B9-8F56-3C28-56DF6DBDA439}"/>
              </a:ext>
            </a:extLst>
          </p:cNvPr>
          <p:cNvSpPr/>
          <p:nvPr/>
        </p:nvSpPr>
        <p:spPr>
          <a:xfrm>
            <a:off x="5128260" y="1188720"/>
            <a:ext cx="3611880" cy="2613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 flags is</a:t>
            </a:r>
          </a:p>
          <a:p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 (</a:t>
            </a:r>
          </a:p>
          <a:p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00" dirty="0" err="1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clk</a:t>
            </a:r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: in  STD_LOGIC;</a:t>
            </a:r>
          </a:p>
          <a:p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enable       : in STD_LOGIC;</a:t>
            </a:r>
          </a:p>
          <a:p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reset        : in  STD_LOGIC;</a:t>
            </a:r>
          </a:p>
          <a:p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00" dirty="0" err="1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flag_en</a:t>
            </a:r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: in  STD_LOGIC;</a:t>
            </a:r>
          </a:p>
          <a:p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00" dirty="0" err="1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cmp_en</a:t>
            </a:r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: in STD_LOGIC;    </a:t>
            </a:r>
          </a:p>
          <a:p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00" dirty="0" err="1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alu_zero</a:t>
            </a:r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: in  STD_LOGIC;</a:t>
            </a:r>
          </a:p>
          <a:p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00" dirty="0" err="1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alu_overflow</a:t>
            </a:r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: in STD_LOGIC;</a:t>
            </a:r>
          </a:p>
          <a:p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00" dirty="0" err="1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alu_GT</a:t>
            </a:r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: in STD_LOGIC;</a:t>
            </a:r>
          </a:p>
          <a:p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00" dirty="0" err="1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alu_EQ</a:t>
            </a:r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: in STD_LOGIC;</a:t>
            </a:r>
          </a:p>
          <a:p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00" dirty="0" err="1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alu_LT</a:t>
            </a:r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: in STD_LOGIC;</a:t>
            </a:r>
          </a:p>
          <a:p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Z            : out STD_LOGIC;</a:t>
            </a:r>
          </a:p>
          <a:p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            : out STD_LOGIC;</a:t>
            </a:r>
          </a:p>
          <a:p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GT           : out STD_LOGIC;</a:t>
            </a:r>
          </a:p>
          <a:p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EQ           : out STD_LOGIC;</a:t>
            </a:r>
          </a:p>
          <a:p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LT           : out STD_LOGIC );</a:t>
            </a:r>
          </a:p>
          <a:p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 flags;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33045353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6ED70BB-7A11-3311-C48A-E99A896C01B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64"/>
          <a:stretch>
            <a:fillRect/>
          </a:stretch>
        </p:blipFill>
        <p:spPr>
          <a:xfrm>
            <a:off x="4783545" y="967628"/>
            <a:ext cx="4135268" cy="2665464"/>
          </a:xfrm>
          <a:prstGeom prst="rect">
            <a:avLst/>
          </a:prstGeom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265FBDC1-2C8C-8909-F2BC-CBB064BCC108}"/>
              </a:ext>
            </a:extLst>
          </p:cNvPr>
          <p:cNvGrpSpPr/>
          <p:nvPr/>
        </p:nvGrpSpPr>
        <p:grpSpPr>
          <a:xfrm>
            <a:off x="7690513" y="2985758"/>
            <a:ext cx="881987" cy="849263"/>
            <a:chOff x="7690513" y="2985758"/>
            <a:chExt cx="881987" cy="849263"/>
          </a:xfrm>
        </p:grpSpPr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124E8746-F92A-5BE6-4C5F-7A252375961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90513" y="3001907"/>
              <a:ext cx="66761" cy="833114"/>
            </a:xfrm>
            <a:prstGeom prst="straightConnector1">
              <a:avLst/>
            </a:prstGeom>
            <a:ln>
              <a:solidFill>
                <a:srgbClr val="C00000"/>
              </a:solidFill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DD3291E8-6CB8-DD28-239B-688A7DB8D9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67334" y="3018056"/>
              <a:ext cx="0" cy="816965"/>
            </a:xfrm>
            <a:prstGeom prst="straightConnector1">
              <a:avLst/>
            </a:prstGeom>
            <a:ln>
              <a:solidFill>
                <a:srgbClr val="C00000"/>
              </a:solidFill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E56ED6DE-DE27-4F63-713E-9F73264D9EB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177395" y="3001907"/>
              <a:ext cx="120444" cy="816965"/>
            </a:xfrm>
            <a:prstGeom prst="straightConnector1">
              <a:avLst/>
            </a:prstGeom>
            <a:ln>
              <a:solidFill>
                <a:srgbClr val="C00000"/>
              </a:solidFill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3935F85A-8CA8-8B11-6625-E1EAF7FBA75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387456" y="2985758"/>
              <a:ext cx="185044" cy="798357"/>
            </a:xfrm>
            <a:prstGeom prst="straightConnector1">
              <a:avLst/>
            </a:prstGeom>
            <a:ln>
              <a:solidFill>
                <a:srgbClr val="C00000"/>
              </a:solidFill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2" name="Text 0"/>
          <p:cNvSpPr/>
          <p:nvPr/>
        </p:nvSpPr>
        <p:spPr>
          <a:xfrm>
            <a:off x="411480" y="13716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FPGA Pin Mappings — </a:t>
            </a:r>
            <a:r>
              <a:rPr lang="en-US" sz="2600" b="1" dirty="0" err="1">
                <a:solidFill>
                  <a:srgbClr val="1A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Basys</a:t>
            </a:r>
            <a:r>
              <a:rPr lang="en-US" sz="2600" b="1" dirty="0">
                <a:solidFill>
                  <a:srgbClr val="1A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4124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Version</a:t>
            </a:r>
            <a:endParaRPr lang="en-US" sz="13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7633823"/>
              </p:ext>
            </p:extLst>
          </p:nvPr>
        </p:nvGraphicFramePr>
        <p:xfrm>
          <a:off x="411480" y="1170432"/>
          <a:ext cx="3992879" cy="3703320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876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4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96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221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Signal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Direction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Function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solidFill>
                      <a:schemeClr val="accent5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Clk_100MHz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W5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in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100 MHz system clock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reset (btnC)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U18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in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Synchronous processor reset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led[0]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U16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out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Result bit 0 (R7[0])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led[1]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E19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out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Result bit 1 (R7[1])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led[2]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U19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out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Result bit 2 (R7[2])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led[3]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V19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out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Result bit 3 (R7[3])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led[4]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P1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out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Zero flag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led[5]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L1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out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Overflow flag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seg[0–6]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W7–U7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out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Seven-segment a–g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an[0–3]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U2–W4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out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Seven-segment anodes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26280" y="738835"/>
            <a:ext cx="0" cy="4297680"/>
          </a:xfrm>
          <a:prstGeom prst="line">
            <a:avLst/>
          </a:prstGeom>
          <a:noFill/>
          <a:ln w="1016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4E74394-B441-AEDC-CA6C-5FF0A647291B}"/>
              </a:ext>
            </a:extLst>
          </p:cNvPr>
          <p:cNvCxnSpPr>
            <a:cxnSpLocks/>
          </p:cNvCxnSpPr>
          <p:nvPr/>
        </p:nvCxnSpPr>
        <p:spPr>
          <a:xfrm flipV="1">
            <a:off x="7103660" y="2571750"/>
            <a:ext cx="634621" cy="1263271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D4F5399B-1790-07D5-B5B6-ADB52F3B32B3}"/>
              </a:ext>
            </a:extLst>
          </p:cNvPr>
          <p:cNvSpPr txBox="1"/>
          <p:nvPr/>
        </p:nvSpPr>
        <p:spPr>
          <a:xfrm>
            <a:off x="6598695" y="3784115"/>
            <a:ext cx="820916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900" dirty="0"/>
              <a:t>Reset button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E501408-A3CF-3C16-080A-7989DE3CE076}"/>
              </a:ext>
            </a:extLst>
          </p:cNvPr>
          <p:cNvSpPr txBox="1"/>
          <p:nvPr/>
        </p:nvSpPr>
        <p:spPr>
          <a:xfrm>
            <a:off x="7509228" y="3784115"/>
            <a:ext cx="134816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900" dirty="0"/>
              <a:t>R7[3]  R7[2]  R7[1]  R7[0]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9A130AC-C1AA-D2AE-C47E-0D1325E2E3D1}"/>
              </a:ext>
            </a:extLst>
          </p:cNvPr>
          <p:cNvSpPr txBox="1"/>
          <p:nvPr/>
        </p:nvSpPr>
        <p:spPr>
          <a:xfrm>
            <a:off x="4887716" y="3784115"/>
            <a:ext cx="639627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900" dirty="0"/>
              <a:t>overflow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65A8139-E8CE-7C20-D49E-0ABBF0648BEE}"/>
              </a:ext>
            </a:extLst>
          </p:cNvPr>
          <p:cNvSpPr txBox="1"/>
          <p:nvPr/>
        </p:nvSpPr>
        <p:spPr>
          <a:xfrm>
            <a:off x="5576019" y="3784115"/>
            <a:ext cx="404657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900" dirty="0"/>
              <a:t>zero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E099291E-44A0-48B4-0177-00ED91EBFB80}"/>
              </a:ext>
            </a:extLst>
          </p:cNvPr>
          <p:cNvCxnSpPr>
            <a:cxnSpLocks/>
            <a:stCxn id="31" idx="0"/>
          </p:cNvCxnSpPr>
          <p:nvPr/>
        </p:nvCxnSpPr>
        <p:spPr>
          <a:xfrm flipV="1">
            <a:off x="5207530" y="3001907"/>
            <a:ext cx="59479" cy="782208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BE9F3CEB-53C7-D5FB-90D7-2978BAD21168}"/>
              </a:ext>
            </a:extLst>
          </p:cNvPr>
          <p:cNvCxnSpPr>
            <a:cxnSpLocks/>
            <a:stCxn id="32" idx="0"/>
          </p:cNvCxnSpPr>
          <p:nvPr/>
        </p:nvCxnSpPr>
        <p:spPr>
          <a:xfrm flipH="1" flipV="1">
            <a:off x="5487020" y="2985758"/>
            <a:ext cx="291328" cy="798357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53AB60E0-2D9D-CD18-11B0-9C29F9D811DE}"/>
              </a:ext>
            </a:extLst>
          </p:cNvPr>
          <p:cNvSpPr txBox="1"/>
          <p:nvPr/>
        </p:nvSpPr>
        <p:spPr>
          <a:xfrm>
            <a:off x="5644207" y="4121281"/>
            <a:ext cx="1278794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Seven segment display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52F28D6B-C637-F18F-B856-8FC6AD2EBEA5}"/>
              </a:ext>
            </a:extLst>
          </p:cNvPr>
          <p:cNvCxnSpPr>
            <a:cxnSpLocks/>
            <a:stCxn id="37" idx="0"/>
          </p:cNvCxnSpPr>
          <p:nvPr/>
        </p:nvCxnSpPr>
        <p:spPr>
          <a:xfrm flipH="1" flipV="1">
            <a:off x="6114196" y="2833084"/>
            <a:ext cx="169408" cy="1288197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45C192-8A34-AEAE-3F27-FCA593FCDB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BE3E693-B775-BE39-8156-FA6482EE9EFF}"/>
              </a:ext>
            </a:extLst>
          </p:cNvPr>
          <p:cNvSpPr/>
          <p:nvPr/>
        </p:nvSpPr>
        <p:spPr>
          <a:xfrm>
            <a:off x="411480" y="13716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FPGA Pin Mappings — </a:t>
            </a:r>
            <a:r>
              <a:rPr lang="en-US" sz="2600" b="1" dirty="0" err="1">
                <a:solidFill>
                  <a:srgbClr val="1A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Basys</a:t>
            </a:r>
            <a:r>
              <a:rPr lang="en-US" sz="2600" b="1" dirty="0">
                <a:solidFill>
                  <a:srgbClr val="1A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3</a:t>
            </a:r>
            <a:endParaRPr lang="en-US" sz="2600" dirty="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1E38ABE6-030B-F3BA-AE69-68C84119D432}"/>
              </a:ext>
            </a:extLst>
          </p:cNvPr>
          <p:cNvSpPr/>
          <p:nvPr/>
        </p:nvSpPr>
        <p:spPr>
          <a:xfrm>
            <a:off x="4560399" y="738835"/>
            <a:ext cx="0" cy="4297680"/>
          </a:xfrm>
          <a:prstGeom prst="line">
            <a:avLst/>
          </a:prstGeom>
          <a:noFill/>
          <a:ln w="1016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8733A624-A923-1D57-4351-1FD5CE72A286}"/>
              </a:ext>
            </a:extLst>
          </p:cNvPr>
          <p:cNvSpPr/>
          <p:nvPr/>
        </p:nvSpPr>
        <p:spPr>
          <a:xfrm>
            <a:off x="411480" y="84124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Version — Additional Pins</a:t>
            </a:r>
            <a:endParaRPr lang="en-US" sz="1300" dirty="0"/>
          </a:p>
        </p:txBody>
      </p:sp>
      <p:graphicFrame>
        <p:nvGraphicFramePr>
          <p:cNvPr id="49" name="Table 1">
            <a:extLst>
              <a:ext uri="{FF2B5EF4-FFF2-40B4-BE49-F238E27FC236}">
                <a16:creationId xmlns:a16="http://schemas.microsoft.com/office/drawing/2014/main" id="{87811567-9618-F735-2DD0-D20AA5BE18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3699063"/>
              </p:ext>
            </p:extLst>
          </p:nvPr>
        </p:nvGraphicFramePr>
        <p:xfrm>
          <a:off x="411479" y="1170432"/>
          <a:ext cx="4084320" cy="3825240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13780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39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01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22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Signal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Direction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Function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Clk_100MHz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W5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in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100 MHz system clock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reset (btnC)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U18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in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Synchronous processor reset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btnU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T18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in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Auxiliary button (extended)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sw[0–13] and </a:t>
                      </a:r>
                      <a:r>
                        <a:rPr lang="en-US" sz="1050" dirty="0" err="1">
                          <a:solidFill>
                            <a:srgbClr val="212121"/>
                          </a:solidFill>
                        </a:rPr>
                        <a:t>sw</a:t>
                      </a: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[15]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V17–U1 and R2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in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15 input switches for extended ops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led[0–3]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U16–V19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out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Result bits [3:0]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led[4]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P1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out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Zero flag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led[5]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L1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out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Overflow flag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led[6]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N3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out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GT flag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led[7]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P3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out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EQ flag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led[8]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U3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out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LT flag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seg[0–6] / an[0–3]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W7–W4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out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Seven-segment display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589CF199-2341-67CD-8A7A-E6D39847BDE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64"/>
          <a:stretch>
            <a:fillRect/>
          </a:stretch>
        </p:blipFill>
        <p:spPr>
          <a:xfrm>
            <a:off x="4783545" y="1554943"/>
            <a:ext cx="4135268" cy="266546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20D956A-DF0E-2C8F-DF46-4498E2B97DB6}"/>
              </a:ext>
            </a:extLst>
          </p:cNvPr>
          <p:cNvSpPr txBox="1"/>
          <p:nvPr/>
        </p:nvSpPr>
        <p:spPr>
          <a:xfrm>
            <a:off x="4895678" y="4569767"/>
            <a:ext cx="542051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900" dirty="0"/>
              <a:t>mode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E46CDF6-EC82-710A-4234-3D1C43AC53F6}"/>
              </a:ext>
            </a:extLst>
          </p:cNvPr>
          <p:cNvCxnSpPr>
            <a:cxnSpLocks/>
            <a:stCxn id="5" idx="0"/>
          </p:cNvCxnSpPr>
          <p:nvPr/>
        </p:nvCxnSpPr>
        <p:spPr>
          <a:xfrm flipV="1">
            <a:off x="5166704" y="3964592"/>
            <a:ext cx="60389" cy="605175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2" name="Left Brace 11">
            <a:extLst>
              <a:ext uri="{FF2B5EF4-FFF2-40B4-BE49-F238E27FC236}">
                <a16:creationId xmlns:a16="http://schemas.microsoft.com/office/drawing/2014/main" id="{A59A7097-C75D-AB52-3244-FBBAA2E42874}"/>
              </a:ext>
            </a:extLst>
          </p:cNvPr>
          <p:cNvSpPr/>
          <p:nvPr/>
        </p:nvSpPr>
        <p:spPr>
          <a:xfrm rot="16200000">
            <a:off x="6959133" y="2704277"/>
            <a:ext cx="167249" cy="2865010"/>
          </a:xfrm>
          <a:prstGeom prst="leftBrace">
            <a:avLst/>
          </a:prstGeom>
          <a:ln>
            <a:solidFill>
              <a:srgbClr val="C0000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BC3FB9E-2020-CE9F-274A-44191B769FE2}"/>
              </a:ext>
            </a:extLst>
          </p:cNvPr>
          <p:cNvSpPr txBox="1"/>
          <p:nvPr/>
        </p:nvSpPr>
        <p:spPr>
          <a:xfrm>
            <a:off x="6470063" y="4223519"/>
            <a:ext cx="1145388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900" dirty="0"/>
              <a:t>Manual instructions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224A008-33C0-14EB-A601-F1BE34620F9E}"/>
              </a:ext>
            </a:extLst>
          </p:cNvPr>
          <p:cNvGrpSpPr/>
          <p:nvPr/>
        </p:nvGrpSpPr>
        <p:grpSpPr>
          <a:xfrm>
            <a:off x="7684595" y="3540578"/>
            <a:ext cx="906671" cy="1099661"/>
            <a:chOff x="7690513" y="2985758"/>
            <a:chExt cx="906671" cy="849263"/>
          </a:xfrm>
        </p:grpSpPr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E6E64355-D14C-061B-3B30-2460F8EC938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90513" y="3001907"/>
              <a:ext cx="66761" cy="833114"/>
            </a:xfrm>
            <a:prstGeom prst="straightConnector1">
              <a:avLst/>
            </a:prstGeom>
            <a:ln>
              <a:solidFill>
                <a:schemeClr val="accent4"/>
              </a:solidFill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C579891C-6E44-0DBE-A0F3-5460F07B194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67334" y="3018056"/>
              <a:ext cx="0" cy="816965"/>
            </a:xfrm>
            <a:prstGeom prst="straightConnector1">
              <a:avLst/>
            </a:prstGeom>
            <a:ln>
              <a:solidFill>
                <a:schemeClr val="accent4"/>
              </a:solidFill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BFD770C2-CB0E-202C-8016-B161E2BFFC1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177395" y="3001907"/>
              <a:ext cx="120444" cy="816965"/>
            </a:xfrm>
            <a:prstGeom prst="straightConnector1">
              <a:avLst/>
            </a:prstGeom>
            <a:ln>
              <a:solidFill>
                <a:schemeClr val="accent4"/>
              </a:solidFill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44B90341-D94C-6FB5-A7BF-C5341A83348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387456" y="2985758"/>
              <a:ext cx="209728" cy="794838"/>
            </a:xfrm>
            <a:prstGeom prst="straightConnector1">
              <a:avLst/>
            </a:prstGeom>
            <a:ln>
              <a:solidFill>
                <a:schemeClr val="accent4"/>
              </a:solidFill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1C255623-023C-ADAC-B0D6-6A2D3915D153}"/>
              </a:ext>
            </a:extLst>
          </p:cNvPr>
          <p:cNvSpPr txBox="1"/>
          <p:nvPr/>
        </p:nvSpPr>
        <p:spPr>
          <a:xfrm>
            <a:off x="7503310" y="4569767"/>
            <a:ext cx="134816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900" dirty="0"/>
              <a:t>R7[3]  R7[2]  R7[1]  R7[0]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2381930-B22D-18C9-0B06-626CA5EDC497}"/>
              </a:ext>
            </a:extLst>
          </p:cNvPr>
          <p:cNvSpPr txBox="1"/>
          <p:nvPr/>
        </p:nvSpPr>
        <p:spPr>
          <a:xfrm>
            <a:off x="4689254" y="1243364"/>
            <a:ext cx="632908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900" dirty="0"/>
              <a:t>overflow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95D9981-816B-1CE1-E6CD-110A0D45BBAF}"/>
              </a:ext>
            </a:extLst>
          </p:cNvPr>
          <p:cNvSpPr txBox="1"/>
          <p:nvPr/>
        </p:nvSpPr>
        <p:spPr>
          <a:xfrm>
            <a:off x="5169632" y="945762"/>
            <a:ext cx="406715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900" dirty="0"/>
              <a:t>zero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A7E4C23-C636-6C8C-DCCE-BFCF759D29C2}"/>
              </a:ext>
            </a:extLst>
          </p:cNvPr>
          <p:cNvSpPr txBox="1"/>
          <p:nvPr/>
        </p:nvSpPr>
        <p:spPr>
          <a:xfrm>
            <a:off x="5457180" y="1239085"/>
            <a:ext cx="542051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900" dirty="0"/>
              <a:t>greater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0A1E251-04BF-EAE7-C2B5-515A0EB8DFD2}"/>
              </a:ext>
            </a:extLst>
          </p:cNvPr>
          <p:cNvSpPr txBox="1"/>
          <p:nvPr/>
        </p:nvSpPr>
        <p:spPr>
          <a:xfrm>
            <a:off x="5935503" y="939961"/>
            <a:ext cx="542051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900" dirty="0"/>
              <a:t>equal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74B88D4-BB0C-E2D5-6A62-515AA7B6ED16}"/>
              </a:ext>
            </a:extLst>
          </p:cNvPr>
          <p:cNvSpPr txBox="1"/>
          <p:nvPr/>
        </p:nvSpPr>
        <p:spPr>
          <a:xfrm>
            <a:off x="6394221" y="1233783"/>
            <a:ext cx="542051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900" dirty="0"/>
              <a:t>lower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4FF257CC-1655-06CF-6227-F1B81E1D10F8}"/>
              </a:ext>
            </a:extLst>
          </p:cNvPr>
          <p:cNvCxnSpPr>
            <a:cxnSpLocks/>
            <a:stCxn id="21" idx="2"/>
          </p:cNvCxnSpPr>
          <p:nvPr/>
        </p:nvCxnSpPr>
        <p:spPr>
          <a:xfrm>
            <a:off x="5005708" y="1474196"/>
            <a:ext cx="262352" cy="2037621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E8E75A44-7680-BDD6-45E4-341E4F7C2B57}"/>
              </a:ext>
            </a:extLst>
          </p:cNvPr>
          <p:cNvCxnSpPr>
            <a:cxnSpLocks/>
            <a:stCxn id="22" idx="2"/>
          </p:cNvCxnSpPr>
          <p:nvPr/>
        </p:nvCxnSpPr>
        <p:spPr>
          <a:xfrm>
            <a:off x="5372990" y="1176594"/>
            <a:ext cx="118537" cy="2335223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F35098F2-2674-A8AF-0AC0-0980798F6277}"/>
              </a:ext>
            </a:extLst>
          </p:cNvPr>
          <p:cNvCxnSpPr>
            <a:cxnSpLocks/>
            <a:stCxn id="23" idx="2"/>
          </p:cNvCxnSpPr>
          <p:nvPr/>
        </p:nvCxnSpPr>
        <p:spPr>
          <a:xfrm flipH="1">
            <a:off x="5715286" y="1469917"/>
            <a:ext cx="12920" cy="204190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B69EBD0F-663A-807B-0133-CCF531BE463C}"/>
              </a:ext>
            </a:extLst>
          </p:cNvPr>
          <p:cNvCxnSpPr>
            <a:cxnSpLocks/>
            <a:stCxn id="24" idx="2"/>
          </p:cNvCxnSpPr>
          <p:nvPr/>
        </p:nvCxnSpPr>
        <p:spPr>
          <a:xfrm flipH="1">
            <a:off x="5905005" y="1170793"/>
            <a:ext cx="301524" cy="234102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554A1111-757B-7481-5084-F4440C702BB8}"/>
              </a:ext>
            </a:extLst>
          </p:cNvPr>
          <p:cNvCxnSpPr>
            <a:cxnSpLocks/>
            <a:stCxn id="26" idx="2"/>
          </p:cNvCxnSpPr>
          <p:nvPr/>
        </p:nvCxnSpPr>
        <p:spPr>
          <a:xfrm flipH="1">
            <a:off x="6121709" y="1464615"/>
            <a:ext cx="543538" cy="2047202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ED6DB376-C352-1606-2EF8-125ADFEF60B6}"/>
              </a:ext>
            </a:extLst>
          </p:cNvPr>
          <p:cNvSpPr txBox="1"/>
          <p:nvPr/>
        </p:nvSpPr>
        <p:spPr>
          <a:xfrm>
            <a:off x="7028597" y="945175"/>
            <a:ext cx="996287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900" dirty="0"/>
              <a:t>Instruction push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1B7B779-2D6D-0D39-730A-B085CE04B6BC}"/>
              </a:ext>
            </a:extLst>
          </p:cNvPr>
          <p:cNvSpPr txBox="1"/>
          <p:nvPr/>
        </p:nvSpPr>
        <p:spPr>
          <a:xfrm>
            <a:off x="8113594" y="1208122"/>
            <a:ext cx="477672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900" dirty="0"/>
              <a:t>reset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41B22776-CBD6-417B-6488-1B557E3DAADB}"/>
              </a:ext>
            </a:extLst>
          </p:cNvPr>
          <p:cNvCxnSpPr>
            <a:cxnSpLocks/>
          </p:cNvCxnSpPr>
          <p:nvPr/>
        </p:nvCxnSpPr>
        <p:spPr>
          <a:xfrm>
            <a:off x="7503310" y="1227140"/>
            <a:ext cx="214665" cy="1660535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A829AB33-3A31-7DD8-6462-0E09DB665824}"/>
              </a:ext>
            </a:extLst>
          </p:cNvPr>
          <p:cNvCxnSpPr>
            <a:cxnSpLocks/>
            <a:stCxn id="52" idx="2"/>
          </p:cNvCxnSpPr>
          <p:nvPr/>
        </p:nvCxnSpPr>
        <p:spPr>
          <a:xfrm flipH="1">
            <a:off x="7774335" y="1438954"/>
            <a:ext cx="578095" cy="1725941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334247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3716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Resource Utilization — </a:t>
            </a:r>
            <a:r>
              <a:rPr lang="en-US" sz="2600" b="1" dirty="0" err="1">
                <a:solidFill>
                  <a:srgbClr val="1A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Basys</a:t>
            </a:r>
            <a:r>
              <a:rPr lang="en-US" sz="2600" b="1" dirty="0">
                <a:solidFill>
                  <a:srgbClr val="1A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4124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Version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94860" y="822960"/>
            <a:ext cx="0" cy="2346960"/>
          </a:xfrm>
          <a:prstGeom prst="line">
            <a:avLst/>
          </a:prstGeom>
          <a:noFill/>
          <a:ln w="1016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754880" y="84124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Version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411480" y="2976372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&amp; Analysis</a:t>
            </a:r>
            <a:endParaRPr lang="en-US" sz="1300" dirty="0"/>
          </a:p>
        </p:txBody>
      </p:sp>
      <p:graphicFrame>
        <p:nvGraphicFramePr>
          <p:cNvPr id="76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0920341"/>
              </p:ext>
            </p:extLst>
          </p:nvPr>
        </p:nvGraphicFramePr>
        <p:xfrm>
          <a:off x="411480" y="3314700"/>
          <a:ext cx="6883401" cy="1463040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10211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42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64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115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Optimized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Extended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Increase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LUTs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28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100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X3.57 - due to top_alu, comparator, and logic unit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Flip-Flops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57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100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X1.75 - additional flag registers (GT/EQ/LT)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I/O Buffers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19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38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x2 - switches + extra flag LEDs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DFD7CFEC-B9F7-FAD4-266B-17E9489E25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1" y="1170432"/>
            <a:ext cx="4023360" cy="144630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EF09678-1A6E-D02A-5D6F-A40D66C3E0C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642"/>
          <a:stretch>
            <a:fillRect/>
          </a:stretch>
        </p:blipFill>
        <p:spPr>
          <a:xfrm>
            <a:off x="4754881" y="1201193"/>
            <a:ext cx="4257040" cy="1428949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3716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41248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involved the successful design, simulation, and FPGA deployment of a 4-bit nanoprocessor in VHDL, progressing from a resource-optimized baseline to an extended feature-rich implementation.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463040"/>
            <a:ext cx="4160520" cy="1051560"/>
          </a:xfrm>
          <a:prstGeom prst="rect">
            <a:avLst/>
          </a:prstGeom>
          <a:solidFill>
            <a:srgbClr val="EEF3FA"/>
          </a:solidFill>
          <a:ln w="9525">
            <a:solidFill>
              <a:srgbClr val="C5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21208" y="1527048"/>
            <a:ext cx="3941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Mastery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21208" y="1783080"/>
            <a:ext cx="394106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Gained hands-on understanding of all key processor components — ALU, instruction decoder, program counter, register bank, and flag handling — through structural VHDL implementation.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63440" y="1463040"/>
            <a:ext cx="4160520" cy="1051560"/>
          </a:xfrm>
          <a:prstGeom prst="rect">
            <a:avLst/>
          </a:prstGeom>
          <a:solidFill>
            <a:srgbClr val="EEF3FA"/>
          </a:solidFill>
          <a:ln w="9525">
            <a:solidFill>
              <a:srgbClr val="C5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773168" y="1527048"/>
            <a:ext cx="3941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 Design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73168" y="1783080"/>
            <a:ext cx="394106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and validated a complete instruction set architecture in both optimized (12-bit/2-bit opcode) and extended (14-bit/4-bit opcode) forms, covering arithmetic, logical, and control-flow operations.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11480" y="2578608"/>
            <a:ext cx="4160520" cy="1051560"/>
          </a:xfrm>
          <a:prstGeom prst="rect">
            <a:avLst/>
          </a:prstGeom>
          <a:solidFill>
            <a:srgbClr val="EEF3FA"/>
          </a:solidFill>
          <a:ln w="9525">
            <a:solidFill>
              <a:srgbClr val="C5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21208" y="2642616"/>
            <a:ext cx="3941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VHDL Proficiency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21208" y="2898648"/>
            <a:ext cx="394106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and simulated all sub-modules in Vivado; timing diagrams confirmed correct functional behaviour for each component under all tested stimuli.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63440" y="2578608"/>
            <a:ext cx="4160520" cy="1051560"/>
          </a:xfrm>
          <a:prstGeom prst="rect">
            <a:avLst/>
          </a:prstGeom>
          <a:solidFill>
            <a:srgbClr val="EEF3FA"/>
          </a:solidFill>
          <a:ln w="9525">
            <a:solidFill>
              <a:srgbClr val="C5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773168" y="2642616"/>
            <a:ext cx="3941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 Deployment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73168" y="2898648"/>
            <a:ext cx="394106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components passed physical integration testing on the Basys 3 development board, with real-time results observable via LEDs and the seven-segment display.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11480" y="3694176"/>
            <a:ext cx="4160520" cy="1051560"/>
          </a:xfrm>
          <a:prstGeom prst="rect">
            <a:avLst/>
          </a:prstGeom>
          <a:solidFill>
            <a:srgbClr val="EEF3FA"/>
          </a:solidFill>
          <a:ln w="9525">
            <a:solidFill>
              <a:srgbClr val="C5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21208" y="3758184"/>
            <a:ext cx="3941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Trade-offs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21208" y="4014216"/>
            <a:ext cx="394106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Demonstrated quantified trade-offs: the Extended version approximately doubles LUT usage over the Optimized version, directly attributable to the three additional ALU sub-modules.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63440" y="3694176"/>
            <a:ext cx="4160520" cy="1051560"/>
          </a:xfrm>
          <a:prstGeom prst="rect">
            <a:avLst/>
          </a:prstGeom>
          <a:solidFill>
            <a:srgbClr val="EEF3FA"/>
          </a:solidFill>
          <a:ln w="9525">
            <a:solidFill>
              <a:srgbClr val="C5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773168" y="3758184"/>
            <a:ext cx="3941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 Engineering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73168" y="4014216"/>
            <a:ext cx="394106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Effectively partitioned a complex multi-module system across four team members, integrating independently verified sub-modules into a fully functional processor.</a:t>
            </a:r>
            <a:endParaRPr lang="en-US" sz="10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3716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Contributions</a:t>
            </a:r>
            <a:endParaRPr lang="en-US" sz="26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7185357"/>
              </p:ext>
            </p:extLst>
          </p:nvPr>
        </p:nvGraphicFramePr>
        <p:xfrm>
          <a:off x="411480" y="1005840"/>
          <a:ext cx="8321040" cy="3200400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51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Name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Index No.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Contributions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Hours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Jayathilake P. I. K.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240288D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ALU, Seven-Segment Display, Top Module, Presentation, Report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24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Jayawardana Y. G. L. 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240294R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Program ROM, Instruction Decoder, Presentation, Report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22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Jayawardhana J. A. R. P.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240297E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Program Counter, 3-bit Adder, Multiplexers, Report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20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Kalpashaka N. G. L. G.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240312A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Register Bank, 3-to-8 Decoder, Flags Unit, Report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20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11480" y="4773168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CS1050 · Group 23 · Department of Computer Science and Engineering · University of Moratuwa</a:t>
            </a:r>
            <a:endParaRPr lang="en-US" sz="9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12801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2013045" y="2418588"/>
            <a:ext cx="5117910" cy="457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26060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accent5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Nanoprocessor Design  ·  CS1050  ·  Group 23</a:t>
            </a:r>
            <a:endParaRPr lang="en-US" sz="16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6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in Vivado and tested on Basys 3 FPGA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510</TotalTime>
  <Words>7124</Words>
  <Application>Microsoft Office PowerPoint</Application>
  <PresentationFormat>On-screen Show (16:9)</PresentationFormat>
  <Paragraphs>1182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6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Nanoprocessor Design — CS1050 Group 23</dc:title>
  <dc:subject>PptxGenJS Presentation</dc:subject>
  <dc:creator>PptxGenJS</dc:creator>
  <cp:lastModifiedBy>Lakshan Jayawardana</cp:lastModifiedBy>
  <cp:revision>5</cp:revision>
  <dcterms:created xsi:type="dcterms:W3CDTF">2026-05-09T03:37:37Z</dcterms:created>
  <dcterms:modified xsi:type="dcterms:W3CDTF">2026-05-09T16:41:33Z</dcterms:modified>
</cp:coreProperties>
</file>